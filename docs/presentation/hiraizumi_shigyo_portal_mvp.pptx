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46d85aecfd4af4" /><Relationship Type="http://schemas.openxmlformats.org/officeDocument/2006/relationships/extended-properties" Target="/docProps/app.xml" Id="R749600f0895e4c1f" /><Relationship Type="http://schemas.openxmlformats.org/officeDocument/2006/relationships/officeDocument" Target="/ppt/presentation.xml" Id="Rbe90cd164c7b43da" /></Relationships>
</file>

<file path=ppt/presentation.xml><?xml version="1.0" encoding="utf-8"?>
<p:presentation xmlns:p="http://schemas.openxmlformats.org/presentationml/2006/main">
  <p:sldMasterIdLst>
    <p:sldMasterId xmlns:r="http://schemas.openxmlformats.org/officeDocument/2006/relationships" id="2147483648" r:id="Rf99a8760f91d4c52"/>
  </p:sldMasterIdLst>
  <p:notesMasterIdLst>
    <p:notesMasterId xmlns:r="http://schemas.openxmlformats.org/officeDocument/2006/relationships" r:id="Rdad7d8c68df44bfc"/>
  </p:notesMasterIdLst>
  <p:sldIdLst>
    <p:sldId xmlns:r="http://schemas.openxmlformats.org/officeDocument/2006/relationships" id="256" r:id="R8786f9b916ff48e5"/>
    <p:sldId xmlns:r="http://schemas.openxmlformats.org/officeDocument/2006/relationships" id="257" r:id="Rccb3fd534e054d20"/>
    <p:sldId xmlns:r="http://schemas.openxmlformats.org/officeDocument/2006/relationships" id="258" r:id="R69abe855632847c5"/>
    <p:sldId xmlns:r="http://schemas.openxmlformats.org/officeDocument/2006/relationships" id="259" r:id="R3ec18f99da844079"/>
    <p:sldId xmlns:r="http://schemas.openxmlformats.org/officeDocument/2006/relationships" id="260" r:id="R0a610a9db1b94f0a"/>
    <p:sldId xmlns:r="http://schemas.openxmlformats.org/officeDocument/2006/relationships" id="261" r:id="R2113af2d537049b2"/>
    <p:sldId xmlns:r="http://schemas.openxmlformats.org/officeDocument/2006/relationships" id="262" r:id="R77501721c82d48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8b0eeb77284fd5" /><Relationship Type="http://schemas.openxmlformats.org/officeDocument/2006/relationships/slideMaster" Target="/ppt/slideMasters/slideMaster1.xml" Id="Rf99a8760f91d4c52" /><Relationship Type="http://schemas.openxmlformats.org/officeDocument/2006/relationships/notesMaster" Target="/ppt/notesMasters/notesMaster1.xml" Id="Rdad7d8c68df44bfc" /><Relationship Type="http://schemas.openxmlformats.org/officeDocument/2006/relationships/presProps" Target="/ppt/presProps.xml" Id="Rfdb4969f173f4bae" /><Relationship Type="http://schemas.openxmlformats.org/officeDocument/2006/relationships/tableStyles" Target="/ppt/tableStyles.xml" Id="R23adcf01b6e94585" /><Relationship Type="http://schemas.openxmlformats.org/officeDocument/2006/relationships/slide" Target="/ppt/slides/slide1.xml" Id="R8786f9b916ff48e5" /><Relationship Type="http://schemas.openxmlformats.org/officeDocument/2006/relationships/slide" Target="/ppt/slides/slide2.xml" Id="Rccb3fd534e054d20" /><Relationship Type="http://schemas.openxmlformats.org/officeDocument/2006/relationships/slide" Target="/ppt/slides/slide3.xml" Id="R69abe855632847c5" /><Relationship Type="http://schemas.openxmlformats.org/officeDocument/2006/relationships/slide" Target="/ppt/slides/slide4.xml" Id="R3ec18f99da844079" /><Relationship Type="http://schemas.openxmlformats.org/officeDocument/2006/relationships/slide" Target="/ppt/slides/slide5.xml" Id="R0a610a9db1b94f0a" /><Relationship Type="http://schemas.openxmlformats.org/officeDocument/2006/relationships/slide" Target="/ppt/slides/slide6.xml" Id="R2113af2d537049b2" /><Relationship Type="http://schemas.openxmlformats.org/officeDocument/2006/relationships/slide" Target="/ppt/slides/slide7.xml" Id="R77501721c82d48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0eda9504ad42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574d088ffc64513" /><Relationship Type="http://schemas.openxmlformats.org/officeDocument/2006/relationships/notesMaster" Target="/ppt/notesMasters/notesMaster1.xml" Id="R2a038e3bdd8140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6a7ef7690545ce" /><Relationship Type="http://schemas.openxmlformats.org/officeDocument/2006/relationships/notesMaster" Target="/ppt/notesMasters/notesMaster1.xml" Id="R157b1319ab5a4c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6b3534f5f7413b" /><Relationship Type="http://schemas.openxmlformats.org/officeDocument/2006/relationships/notesMaster" Target="/ppt/notesMasters/notesMaster1.xml" Id="R29ac9ff8e2f146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92911209f04435" /><Relationship Type="http://schemas.openxmlformats.org/officeDocument/2006/relationships/notesMaster" Target="/ppt/notesMasters/notesMaster1.xml" Id="R8b51cb16f27945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e35a2cf2954c9b" /><Relationship Type="http://schemas.openxmlformats.org/officeDocument/2006/relationships/notesMaster" Target="/ppt/notesMasters/notesMaster1.xml" Id="R3c942cbe419b46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0fcdad0d204610" /><Relationship Type="http://schemas.openxmlformats.org/officeDocument/2006/relationships/notesMaster" Target="/ppt/notesMasters/notesMaster1.xml" Id="R2f5846c9b0cb4d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7a2a4aca4f4132" /><Relationship Type="http://schemas.openxmlformats.org/officeDocument/2006/relationships/notesMaster" Target="/ppt/notesMasters/notesMaster1.xml" Id="Rf8f6c29903f340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【0:00〜0:08】</a:t>
            </a:r>
          </a:p>
          <a:p xmlns:a="http://schemas.openxmlformats.org/drawingml/2006/main">
            <a:r>
              <a:t>『平泉町志業シェアハウスを使うには、Wordの申請書を編集して提出します。スマートフォンでは、ここが最初のハードルになります。』</a:t>
            </a:r>
          </a:p>
          <a:p xmlns:a="http://schemas.openxmlformats.org/drawingml/2006/main">
            <a:r>
              <a:t/>
            </a:r>
          </a:p>
          <a:p xmlns:a="http://schemas.openxmlformats.org/drawingml/2006/main">
            <a:r>
              <a:t>参照: docs/requirements.md 第2章 / Apple Event風の発表を企画チャット</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【0:08〜0:28】</a:t>
            </a:r>
          </a:p>
          <a:p xmlns:a="http://schemas.openxmlformats.org/drawingml/2006/main">
            <a:r>
              <a:t>『利用者はWordに記入してメールで提出します。町職員は紙の許可通知とExcelの料金管理を使います。一つの申請が複数の場所に分かれ、見落としや転記、進捗確認の手間が生まれます。』</a:t>
            </a:r>
          </a:p>
          <a:p xmlns:a="http://schemas.openxmlformats.org/drawingml/2006/main">
            <a:r>
              <a:t/>
            </a:r>
          </a:p>
          <a:p xmlns:a="http://schemas.openxmlformats.org/drawingml/2006/main">
            <a:r>
              <a:t>参照: docs/requirements.md 第2章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【0:28〜0:48】</a:t>
            </a:r>
          </a:p>
          <a:p xmlns:a="http://schemas.openxmlformats.org/drawingml/2006/main">
            <a:r>
              <a:t>『では、利用者と町職員が同じ申請情報を同じ場所で確認できたらどうでしょう。その答えとして制作したのが、ひらいずみ志業ポータルです。申請から審査、部屋、料金、納付、入退去までを一つの流れで扱います。』</a:t>
            </a:r>
          </a:p>
          <a:p xmlns:a="http://schemas.openxmlformats.org/drawingml/2006/main">
            <a:r>
              <a:t/>
            </a:r>
          </a:p>
          <a:p xmlns:a="http://schemas.openxmlformats.org/drawingml/2006/main">
            <a:r>
              <a:t>参照: README.md / docs/requirements.md 第1章・第5章 / Issue #85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【0:48〜1:00】</a:t>
            </a:r>
          </a:p>
          <a:p xmlns:a="http://schemas.openxmlformats.org/drawingml/2006/main">
            <a:r>
              <a:t>『公開本番ではトップとカレンダーを確認できます。現在のmainには、対象者名簿、事前部屋案、本人の部屋表示、申請PDFの確認提出、再審査、職員用配置表PDFまで統合されています。SQL037〜040は本番反映済みですが、常設Linux変換先が未指定なのでPDF生成は安全側に停止しています。』</a:t>
            </a:r>
          </a:p>
          <a:p xmlns:a="http://schemas.openxmlformats.org/drawingml/2006/main">
            <a:r>
              <a:t/>
            </a:r>
          </a:p>
          <a:p xmlns:a="http://schemas.openxmlformats.org/drawingml/2006/main">
            <a:r>
              <a:t>参照: main 48ac7fd / docs/routes.md / docs/camp-pdf-confirm-submit.md / docs/staff-room-plan-pdf.md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【1:00〜4:00 デモ】</a:t>
            </a:r>
          </a:p>
          <a:p xmlns:a="http://schemas.openxmlformats.org/drawingml/2006/main">
            <a:r>
              <a:t>0:00 公開カレンダーで表示が利用可否だけであることを確認。</a:t>
            </a:r>
          </a:p>
          <a:p xmlns:a="http://schemas.openxmlformats.org/drawingml/2006/main">
            <a:r>
              <a:t>0:30 利用者の申請一覧と詳細で、受付番号、状態、料金を確認。</a:t>
            </a:r>
          </a:p>
          <a:p xmlns:a="http://schemas.openxmlformats.org/drawingml/2006/main">
            <a:r>
              <a:t>1:10 利用者の『自分の部屋』で、本人の割当だけを表示することを説明。</a:t>
            </a:r>
          </a:p>
          <a:p xmlns:a="http://schemas.openxmlformats.org/drawingml/2006/main">
            <a:r>
              <a:t>1:50 職員の対象者名簿と事前部屋案を確認し、発表中は保存しない。</a:t>
            </a:r>
          </a:p>
          <a:p xmlns:a="http://schemas.openxmlformats.org/drawingml/2006/main">
            <a:r>
              <a:t>2:40 利用者と職員が一つの申請を共有して進められるとまとめる。</a:t>
            </a:r>
          </a:p>
          <a:p xmlns:a="http://schemas.openxmlformats.org/drawingml/2006/main">
            <a:r>
              <a:t>通信待ちが8秒を超えたら『ここからは、同じ流れを事前に用意した資料でご覧ください』と言い、fallback_demo.pdfを開く。</a:t>
            </a:r>
          </a:p>
          <a:p xmlns:a="http://schemas.openxmlformats.org/drawingml/2006/main">
            <a:r>
              <a:t/>
            </a:r>
          </a:p>
          <a:p xmlns:a="http://schemas.openxmlformats.org/drawingml/2006/main">
            <a:r>
              <a:t>参照: docs/demo-runbook.md / docs/presentation/presenter_runbook.md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【4:00〜4:35】</a:t>
            </a:r>
          </a:p>
          <a:p xmlns:a="http://schemas.openxmlformats.org/drawingml/2006/main">
            <a:r>
              <a:t>『こだわったのは画面の裏側です。利用者は自分の申請だけを見られるようにし、職員操作もサーバーとDBで権限を確認します。施設全体と各部屋の定員は同時操作でも超えないようDBで検査します。審査、納付、入退去を分け、操作履歴も残します。』</a:t>
            </a:r>
          </a:p>
          <a:p xmlns:a="http://schemas.openxmlformats.org/drawingml/2006/main">
            <a:r>
              <a:t/>
            </a:r>
          </a:p>
          <a:p xmlns:a="http://schemas.openxmlformats.org/drawingml/2006/main">
            <a:r>
              <a:t>参照: docs/requirements.md 第5章・第6章 / docs/database.md / docs/mvp-acceptance.md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【4:35〜5:00】</a:t>
            </a:r>
          </a:p>
          <a:p xmlns:a="http://schemas.openxmlformats.org/drawingml/2006/main">
            <a:r>
              <a:t>『事前部屋案、申請PDFの確認提出、再審査、職員用配置表PDF、A12総合受入はmainへ統合され、SQL037〜040も本番反映済みです。ただし常設Linux変換先が未指定で、PDF生成active設定は0のため、本番のPDF生成は安全側に停止しています。平泉で始める、その一歩を、手続きで止めない。これが、ひらいずみ志業ポータルです。ありがとうございました。』</a:t>
            </a:r>
          </a:p>
          <a:p xmlns:a="http://schemas.openxmlformats.org/drawingml/2006/main">
            <a:r>
              <a:t/>
            </a:r>
          </a:p>
          <a:p xmlns:a="http://schemas.openxmlformats.org/drawingml/2006/main">
            <a:r>
              <a:t>参照: main 48ac7fd / docs/a12-integrated-acceptance.md / docs/camp-pdf-confirm-submit.md / docs/staff-room-plan-pdf.md / Issue #88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3b6bc1badf40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dd78867971409a" /><Relationship Type="http://schemas.openxmlformats.org/officeDocument/2006/relationships/slideLayout" Target="/ppt/slideLayouts/slideLayout1.xml" Id="Rdba5b646f06a45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a5b646f06a45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54896feee7c48e1" /><Relationship Type="http://schemas.openxmlformats.org/officeDocument/2006/relationships/notesSlide" Target="/ppt/notesSlides/notesSlide1.xml" Id="R9cb4cf9a1aa643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9162054efd542e3" /><Relationship Type="http://schemas.openxmlformats.org/officeDocument/2006/relationships/notesSlide" Target="/ppt/notesSlides/notesSlide2.xml" Id="Reb04a0b73f134f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06f3d3fd7c46a0" /><Relationship Type="http://schemas.openxmlformats.org/officeDocument/2006/relationships/notesSlide" Target="/ppt/notesSlides/notesSlide3.xml" Id="R30730618648f4d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3db94a9567f45d6" /><Relationship Type="http://schemas.openxmlformats.org/officeDocument/2006/relationships/notesSlide" Target="/ppt/notesSlides/notesSlide4.xml" Id="R3a0644895ac74e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2b3c83c381c47bc" /><Relationship Type="http://schemas.openxmlformats.org/officeDocument/2006/relationships/notesSlide" Target="/ppt/notesSlides/notesSlide5.xml" Id="R7ec46892529348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ef82a4dbed04304" /><Relationship Type="http://schemas.openxmlformats.org/officeDocument/2006/relationships/notesSlide" Target="/ppt/notesSlides/notesSlide6.xml" Id="R988967b0a2474e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3268f7366f14016" /><Relationship Type="http://schemas.openxmlformats.org/officeDocument/2006/relationships/notesSlide" Target="/ppt/notesSlides/notesSlide7.xml" Id="R1971ce82e7f340c1" /></Relationships>
</file>

<file path=ppt/slides/slide1.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8A2B83-4F6A-4AB8-9814-A281D9CE080F}"/>
              </a:ext>
            </a:extLst>
          </p:cNvPr>
          <p:cNvSpPr>
            <a:spLocks xmlns:a="http://schemas.openxmlformats.org/drawingml/2006/main" noGrp="1"/>
          </p:cNvSpPr>
          <p:nvPr/>
        </p:nvSpPr>
        <p:spPr>
          <a:xfrm xmlns:a="http://schemas.openxmlformats.org/drawingml/2006/main">
            <a:off x="781050" y="1714500"/>
            <a:ext cx="1028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4350" b="1">
                <a:solidFill>
                  <a:srgbClr val="111111"/>
                </a:solidFill>
                <a:latin typeface="Hiragino Sans GB"/>
                <a:ea typeface="Hiragino Sans GB"/>
                <a:cs typeface="Hiragino Sans GB"/>
              </a:defRPr>
            </a:pPr>
            <a:r>
              <a:rPr sz="4350" b="1">
                <a:solidFill>
                  <a:srgbClr val="111111"/>
                </a:solidFill>
                <a:latin typeface="Hiragino Sans GB"/>
                <a:ea typeface="Hiragino Sans GB"/>
                <a:cs typeface="Hiragino Sans GB"/>
              </a:rPr>
              <a:t>申請書は、</a:t>
            </a:r>
          </a:p>
        </p:txBody>
      </p:sp>
      <p:sp>
        <p:nvSpPr>
          <p:cNvPr id="2" name="">
            <a:extLst xmlns:a="http://schemas.openxmlformats.org/drawingml/2006/main">
              <a:ext uri="{FF2B5EF4-FFF2-40B4-BE49-F238E27FC236}">
                <a16:creationId xmlns:a16="http://schemas.microsoft.com/office/drawing/2014/main" id="{F5BEDC1B-D3E8-4F6E-A440-39E742180573}"/>
              </a:ext>
            </a:extLst>
          </p:cNvPr>
          <p:cNvSpPr>
            <a:spLocks xmlns:a="http://schemas.openxmlformats.org/drawingml/2006/main" noGrp="1"/>
          </p:cNvSpPr>
          <p:nvPr/>
        </p:nvSpPr>
        <p:spPr>
          <a:xfrm xmlns:a="http://schemas.openxmlformats.org/drawingml/2006/main">
            <a:off x="781050" y="2619375"/>
            <a:ext cx="10382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6600" b="1">
                <a:solidFill>
                  <a:srgbClr val="FF5A36"/>
                </a:solidFill>
                <a:latin typeface="Hiragino Sans GB"/>
                <a:ea typeface="Hiragino Sans GB"/>
                <a:cs typeface="Hiragino Sans GB"/>
              </a:defRPr>
            </a:pPr>
            <a:r>
              <a:rPr sz="6600" b="1">
                <a:solidFill>
                  <a:srgbClr val="FF5A36"/>
                </a:solidFill>
                <a:latin typeface="Hiragino Sans GB"/>
                <a:ea typeface="Hiragino Sans GB"/>
                <a:cs typeface="Hiragino Sans GB"/>
              </a:rPr>
              <a:t>Wordでした。</a:t>
            </a:r>
          </a:p>
        </p:txBody>
      </p:sp>
      <p:sp>
        <p:nvSpPr>
          <p:cNvPr id="3" name="">
            <a:extLst xmlns:a="http://schemas.openxmlformats.org/drawingml/2006/main">
              <a:ext uri="{FF2B5EF4-FFF2-40B4-BE49-F238E27FC236}">
                <a16:creationId xmlns:a16="http://schemas.microsoft.com/office/drawing/2014/main" id="{1C718083-9435-47A5-9EAD-BE2C8170F6F6}"/>
              </a:ext>
            </a:extLst>
          </p:cNvPr>
          <p:cNvSpPr>
            <a:spLocks xmlns:a="http://schemas.openxmlformats.org/drawingml/2006/main" noGrp="1"/>
          </p:cNvSpPr>
          <p:nvPr/>
        </p:nvSpPr>
        <p:spPr>
          <a:xfrm xmlns:a="http://schemas.openxmlformats.org/drawingml/2006/main">
            <a:off x="819150" y="4857750"/>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77736B"/>
                </a:solidFill>
                <a:latin typeface="Hiragino Sans GB"/>
                <a:ea typeface="Hiragino Sans GB"/>
                <a:cs typeface="Hiragino Sans GB"/>
              </a:defRPr>
            </a:pPr>
            <a:r>
              <a:rPr sz="1575" b="0">
                <a:solidFill>
                  <a:srgbClr val="77736B"/>
                </a:solidFill>
                <a:latin typeface="Hiragino Sans GB"/>
                <a:ea typeface="Hiragino Sans GB"/>
                <a:cs typeface="Hiragino Sans GB"/>
              </a:rPr>
              <a:t>平泉町志業シェアハウスの利用申請</a:t>
            </a:r>
          </a:p>
        </p:txBody>
      </p:sp>
      <p:sp>
        <p:nvSpPr>
          <p:cNvPr id="4" name="">
            <a:extLst xmlns:a="http://schemas.openxmlformats.org/drawingml/2006/main">
              <a:ext uri="{FF2B5EF4-FFF2-40B4-BE49-F238E27FC236}">
                <a16:creationId xmlns:a16="http://schemas.microsoft.com/office/drawing/2014/main" id="{E34AE69F-C93C-4005-A807-EBA296B42E26}"/>
              </a:ext>
            </a:extLst>
          </p:cNvPr>
          <p:cNvSpPr>
            <a:spLocks xmlns:a="http://schemas.openxmlformats.org/drawingml/2006/main" noGrp="1"/>
          </p:cNvSpPr>
          <p:nvPr/>
        </p:nvSpPr>
        <p:spPr>
          <a:xfrm xmlns:a="http://schemas.openxmlformats.org/drawingml/2006/main">
            <a:off x="685800" y="6096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00" b="0">
                <a:solidFill>
                  <a:srgbClr val="77736B"/>
                </a:solidFill>
                <a:latin typeface="Hiragino Sans GB"/>
                <a:ea typeface="Hiragino Sans GB"/>
                <a:cs typeface="Hiragino Sans GB"/>
              </a:defRPr>
            </a:pPr>
            <a:r>
              <a:rPr sz="900" b="0">
                <a:solidFill>
                  <a:srgbClr val="77736B"/>
                </a:solidFill>
                <a:latin typeface="Hiragino Sans GB"/>
                <a:ea typeface="Hiragino Sans GB"/>
                <a:cs typeface="Hiragino Sans GB"/>
              </a:rPr>
              <a:t>自主制作の試作版です。平泉町公式サービスではありません。</a:t>
            </a:r>
          </a:p>
        </p:txBody>
      </p:sp>
      <p:sp>
        <p:nvSpPr>
          <p:cNvPr id="5" name="">
            <a:extLst xmlns:a="http://schemas.openxmlformats.org/drawingml/2006/main">
              <a:ext uri="{FF2B5EF4-FFF2-40B4-BE49-F238E27FC236}">
                <a16:creationId xmlns:a16="http://schemas.microsoft.com/office/drawing/2014/main" id="{290EDEEC-DA6C-49AB-BC6E-BE1B7B743F8F}"/>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HIR AIZUMI SHIGYO PORTAL</a:t>
            </a:r>
          </a:p>
        </p:txBody>
      </p:sp>
      <p:sp>
        <p:nvSpPr>
          <p:cNvPr id="6" name="">
            <a:extLst xmlns:a="http://schemas.openxmlformats.org/drawingml/2006/main">
              <a:ext uri="{FF2B5EF4-FFF2-40B4-BE49-F238E27FC236}">
                <a16:creationId xmlns:a16="http://schemas.microsoft.com/office/drawing/2014/main" id="{E2A6E5A2-E44C-40E4-BBC6-193F81B5121B}"/>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01</a:t>
            </a:r>
          </a:p>
        </p:txBody>
      </p:sp>
    </p:spTree>
    <p:extLst>
      <p:ext uri="{BB962C8B-B14F-4D97-AF65-F5344CB8AC3E}">
        <p14:creationId xmlns:p14="http://schemas.microsoft.com/office/powerpoint/2010/main" val="4435399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C23A0A2-8EB9-49B0-A46A-8D098610A065}"/>
              </a:ext>
            </a:extLst>
          </p:cNvPr>
          <p:cNvSpPr>
            <a:spLocks xmlns:a="http://schemas.openxmlformats.org/drawingml/2006/main" noGrp="1"/>
          </p:cNvSpPr>
          <p:nvPr/>
        </p:nvSpPr>
        <p:spPr>
          <a:xfrm xmlns:a="http://schemas.openxmlformats.org/drawingml/2006/main">
            <a:off x="685800" y="628650"/>
            <a:ext cx="7239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4350" b="1">
                <a:solidFill>
                  <a:srgbClr val="111111"/>
                </a:solidFill>
                <a:latin typeface="Hiragino Sans GB"/>
                <a:ea typeface="Hiragino Sans GB"/>
                <a:cs typeface="Hiragino Sans GB"/>
              </a:defRPr>
            </a:pPr>
            <a:r>
              <a:rPr sz="4350" b="1">
                <a:solidFill>
                  <a:srgbClr val="111111"/>
                </a:solidFill>
                <a:latin typeface="Hiragino Sans GB"/>
                <a:ea typeface="Hiragino Sans GB"/>
                <a:cs typeface="Hiragino Sans GB"/>
              </a:rPr>
              <a:t>申請はひとつ。</a:t>
            </a:r>
          </a:p>
          <a:p xmlns:a="http://schemas.openxmlformats.org/drawingml/2006/main">
            <a:pPr algn="l">
              <a:defRPr sz="4350" b="1">
                <a:solidFill>
                  <a:srgbClr val="111111"/>
                </a:solidFill>
                <a:latin typeface="Hiragino Sans GB"/>
                <a:ea typeface="Hiragino Sans GB"/>
                <a:cs typeface="Hiragino Sans GB"/>
              </a:defRPr>
            </a:pPr>
            <a:r>
              <a:rPr sz="4350" b="1">
                <a:solidFill>
                  <a:srgbClr val="111111"/>
                </a:solidFill>
                <a:latin typeface="Hiragino Sans GB"/>
                <a:ea typeface="Hiragino Sans GB"/>
                <a:cs typeface="Hiragino Sans GB"/>
              </a:rPr>
              <a:t>管理は4か所。</a:t>
            </a:r>
          </a:p>
        </p:txBody>
      </p:sp>
      <p:sp>
        <p:nvSpPr>
          <p:cNvPr id="2" name="">
            <a:extLst xmlns:a="http://schemas.openxmlformats.org/drawingml/2006/main">
              <a:ext uri="{FF2B5EF4-FFF2-40B4-BE49-F238E27FC236}">
                <a16:creationId xmlns:a16="http://schemas.microsoft.com/office/drawing/2014/main" id="{6DE7D889-BA1E-4A15-B87F-5306E657E0B9}"/>
              </a:ext>
            </a:extLst>
          </p:cNvPr>
          <p:cNvSpPr>
            <a:spLocks xmlns:a="http://schemas.openxmlformats.org/drawingml/2006/main" noGrp="1"/>
          </p:cNvSpPr>
          <p:nvPr/>
        </p:nvSpPr>
        <p:spPr>
          <a:xfrm xmlns:a="http://schemas.openxmlformats.org/drawingml/2006/main">
            <a:off x="723900" y="3333750"/>
            <a:ext cx="2333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700" b="1">
                <a:solidFill>
                  <a:srgbClr val="FF5A36"/>
                </a:solidFill>
                <a:latin typeface="Helvetica Neue"/>
                <a:ea typeface="Helvetica Neue"/>
                <a:cs typeface="Helvetica Neue"/>
              </a:defRPr>
            </a:pPr>
            <a:r>
              <a:rPr sz="2700" b="1">
                <a:solidFill>
                  <a:srgbClr val="FF5A36"/>
                </a:solidFill>
                <a:latin typeface="Helvetica Neue"/>
                <a:ea typeface="Helvetica Neue"/>
                <a:cs typeface="Helvetica Neue"/>
              </a:rPr>
              <a:t>WORD</a:t>
            </a:r>
          </a:p>
        </p:txBody>
      </p:sp>
      <p:sp>
        <p:nvSpPr>
          <p:cNvPr id="3" name="">
            <a:extLst xmlns:a="http://schemas.openxmlformats.org/drawingml/2006/main">
              <a:ext uri="{FF2B5EF4-FFF2-40B4-BE49-F238E27FC236}">
                <a16:creationId xmlns:a16="http://schemas.microsoft.com/office/drawing/2014/main" id="{BC821305-7E00-408C-9530-35E1564627A6}"/>
              </a:ext>
            </a:extLst>
          </p:cNvPr>
          <p:cNvSpPr>
            <a:spLocks xmlns:a="http://schemas.openxmlformats.org/drawingml/2006/main" noGrp="1"/>
          </p:cNvSpPr>
          <p:nvPr/>
        </p:nvSpPr>
        <p:spPr>
          <a:xfrm xmlns:a="http://schemas.openxmlformats.org/drawingml/2006/main">
            <a:off x="723900" y="4019550"/>
            <a:ext cx="2209800" cy="28575"/>
          </a:xfrm>
          <a:prstGeom xmlns:a="http://schemas.openxmlformats.org/drawingml/2006/main" prst="rect">
            <a:avLst/>
          </a:prstGeom>
          <a:solidFill xmlns:a="http://schemas.openxmlformats.org/drawingml/2006/main">
            <a:srgbClr val="FF5A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750BA9-FB7C-43CC-A4E6-F41FEEC6DBB9}"/>
              </a:ext>
            </a:extLst>
          </p:cNvPr>
          <p:cNvSpPr>
            <a:spLocks xmlns:a="http://schemas.openxmlformats.org/drawingml/2006/main" noGrp="1"/>
          </p:cNvSpPr>
          <p:nvPr/>
        </p:nvSpPr>
        <p:spPr>
          <a:xfrm xmlns:a="http://schemas.openxmlformats.org/drawingml/2006/main">
            <a:off x="723900" y="42100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5D5A54"/>
                </a:solidFill>
                <a:latin typeface="Hiragino Sans GB"/>
                <a:ea typeface="Hiragino Sans GB"/>
                <a:cs typeface="Hiragino Sans GB"/>
              </a:defRPr>
            </a:pPr>
            <a:r>
              <a:rPr sz="1575" b="0">
                <a:solidFill>
                  <a:srgbClr val="5D5A54"/>
                </a:solidFill>
                <a:latin typeface="Hiragino Sans GB"/>
                <a:ea typeface="Hiragino Sans GB"/>
                <a:cs typeface="Hiragino Sans GB"/>
              </a:rPr>
              <a:t>記入</a:t>
            </a:r>
          </a:p>
        </p:txBody>
      </p:sp>
      <p:sp>
        <p:nvSpPr>
          <p:cNvPr id="5" name="">
            <a:extLst xmlns:a="http://schemas.openxmlformats.org/drawingml/2006/main">
              <a:ext uri="{FF2B5EF4-FFF2-40B4-BE49-F238E27FC236}">
                <a16:creationId xmlns:a16="http://schemas.microsoft.com/office/drawing/2014/main" id="{B7A98BC3-C49D-4574-9F24-E63B1621FE2B}"/>
              </a:ext>
            </a:extLst>
          </p:cNvPr>
          <p:cNvSpPr>
            <a:spLocks xmlns:a="http://schemas.openxmlformats.org/drawingml/2006/main" noGrp="1"/>
          </p:cNvSpPr>
          <p:nvPr/>
        </p:nvSpPr>
        <p:spPr>
          <a:xfrm xmlns:a="http://schemas.openxmlformats.org/drawingml/2006/main">
            <a:off x="3524250" y="3333750"/>
            <a:ext cx="2333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700" b="1">
                <a:solidFill>
                  <a:srgbClr val="111111"/>
                </a:solidFill>
                <a:latin typeface="Helvetica Neue"/>
                <a:ea typeface="Helvetica Neue"/>
                <a:cs typeface="Helvetica Neue"/>
              </a:defRPr>
            </a:pPr>
            <a:r>
              <a:rPr sz="2700" b="1">
                <a:solidFill>
                  <a:srgbClr val="111111"/>
                </a:solidFill>
                <a:latin typeface="Helvetica Neue"/>
                <a:ea typeface="Helvetica Neue"/>
                <a:cs typeface="Helvetica Neue"/>
              </a:rPr>
              <a:t>MAIL</a:t>
            </a:r>
          </a:p>
        </p:txBody>
      </p:sp>
      <p:sp>
        <p:nvSpPr>
          <p:cNvPr id="6" name="">
            <a:extLst xmlns:a="http://schemas.openxmlformats.org/drawingml/2006/main">
              <a:ext uri="{FF2B5EF4-FFF2-40B4-BE49-F238E27FC236}">
                <a16:creationId xmlns:a16="http://schemas.microsoft.com/office/drawing/2014/main" id="{57A0443F-60E7-4C5E-9A2E-1DF94873F60A}"/>
              </a:ext>
            </a:extLst>
          </p:cNvPr>
          <p:cNvSpPr>
            <a:spLocks xmlns:a="http://schemas.openxmlformats.org/drawingml/2006/main" noGrp="1"/>
          </p:cNvSpPr>
          <p:nvPr/>
        </p:nvSpPr>
        <p:spPr>
          <a:xfrm xmlns:a="http://schemas.openxmlformats.org/drawingml/2006/main">
            <a:off x="3524250" y="4019550"/>
            <a:ext cx="2209800" cy="28575"/>
          </a:xfrm>
          <a:prstGeom xmlns:a="http://schemas.openxmlformats.org/drawingml/2006/main" prst="rect">
            <a:avLst/>
          </a:prstGeom>
          <a:solidFill xmlns:a="http://schemas.openxmlformats.org/drawingml/2006/main">
            <a:srgbClr val="B5B1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1648522-4B8B-409A-8D0A-575CAE4C0EBA}"/>
              </a:ext>
            </a:extLst>
          </p:cNvPr>
          <p:cNvSpPr>
            <a:spLocks xmlns:a="http://schemas.openxmlformats.org/drawingml/2006/main" noGrp="1"/>
          </p:cNvSpPr>
          <p:nvPr/>
        </p:nvSpPr>
        <p:spPr>
          <a:xfrm xmlns:a="http://schemas.openxmlformats.org/drawingml/2006/main">
            <a:off x="3524250" y="42100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5D5A54"/>
                </a:solidFill>
                <a:latin typeface="Hiragino Sans GB"/>
                <a:ea typeface="Hiragino Sans GB"/>
                <a:cs typeface="Hiragino Sans GB"/>
              </a:defRPr>
            </a:pPr>
            <a:r>
              <a:rPr sz="1575" b="0">
                <a:solidFill>
                  <a:srgbClr val="5D5A54"/>
                </a:solidFill>
                <a:latin typeface="Hiragino Sans GB"/>
                <a:ea typeface="Hiragino Sans GB"/>
                <a:cs typeface="Hiragino Sans GB"/>
              </a:rPr>
              <a:t>提出</a:t>
            </a:r>
          </a:p>
        </p:txBody>
      </p:sp>
      <p:sp>
        <p:nvSpPr>
          <p:cNvPr id="8" name="">
            <a:extLst xmlns:a="http://schemas.openxmlformats.org/drawingml/2006/main">
              <a:ext uri="{FF2B5EF4-FFF2-40B4-BE49-F238E27FC236}">
                <a16:creationId xmlns:a16="http://schemas.microsoft.com/office/drawing/2014/main" id="{27476C41-493B-409E-89FB-BF124D9F8624}"/>
              </a:ext>
            </a:extLst>
          </p:cNvPr>
          <p:cNvSpPr>
            <a:spLocks xmlns:a="http://schemas.openxmlformats.org/drawingml/2006/main" noGrp="1"/>
          </p:cNvSpPr>
          <p:nvPr/>
        </p:nvSpPr>
        <p:spPr>
          <a:xfrm xmlns:a="http://schemas.openxmlformats.org/drawingml/2006/main">
            <a:off x="6324600" y="3333750"/>
            <a:ext cx="2333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700" b="1">
                <a:solidFill>
                  <a:srgbClr val="111111"/>
                </a:solidFill>
                <a:latin typeface="Helvetica Neue"/>
                <a:ea typeface="Helvetica Neue"/>
                <a:cs typeface="Helvetica Neue"/>
              </a:defRPr>
            </a:pPr>
            <a:r>
              <a:rPr sz="2700" b="1">
                <a:solidFill>
                  <a:srgbClr val="111111"/>
                </a:solidFill>
                <a:latin typeface="Helvetica Neue"/>
                <a:ea typeface="Helvetica Neue"/>
                <a:cs typeface="Helvetica Neue"/>
              </a:rPr>
              <a:t>PAPER</a:t>
            </a:r>
          </a:p>
        </p:txBody>
      </p:sp>
      <p:sp>
        <p:nvSpPr>
          <p:cNvPr id="9" name="">
            <a:extLst xmlns:a="http://schemas.openxmlformats.org/drawingml/2006/main">
              <a:ext uri="{FF2B5EF4-FFF2-40B4-BE49-F238E27FC236}">
                <a16:creationId xmlns:a16="http://schemas.microsoft.com/office/drawing/2014/main" id="{8D334A94-AD6C-4035-85FE-993CF93A936C}"/>
              </a:ext>
            </a:extLst>
          </p:cNvPr>
          <p:cNvSpPr>
            <a:spLocks xmlns:a="http://schemas.openxmlformats.org/drawingml/2006/main" noGrp="1"/>
          </p:cNvSpPr>
          <p:nvPr/>
        </p:nvSpPr>
        <p:spPr>
          <a:xfrm xmlns:a="http://schemas.openxmlformats.org/drawingml/2006/main">
            <a:off x="6324600" y="4019550"/>
            <a:ext cx="2209800" cy="28575"/>
          </a:xfrm>
          <a:prstGeom xmlns:a="http://schemas.openxmlformats.org/drawingml/2006/main" prst="rect">
            <a:avLst/>
          </a:prstGeom>
          <a:solidFill xmlns:a="http://schemas.openxmlformats.org/drawingml/2006/main">
            <a:srgbClr val="B5B1A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206A5E5-91F7-4CB0-8B8F-1FEB29271B22}"/>
              </a:ext>
            </a:extLst>
          </p:cNvPr>
          <p:cNvSpPr>
            <a:spLocks xmlns:a="http://schemas.openxmlformats.org/drawingml/2006/main" noGrp="1"/>
          </p:cNvSpPr>
          <p:nvPr/>
        </p:nvSpPr>
        <p:spPr>
          <a:xfrm xmlns:a="http://schemas.openxmlformats.org/drawingml/2006/main">
            <a:off x="6324600" y="42100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5D5A54"/>
                </a:solidFill>
                <a:latin typeface="Hiragino Sans GB"/>
                <a:ea typeface="Hiragino Sans GB"/>
                <a:cs typeface="Hiragino Sans GB"/>
              </a:defRPr>
            </a:pPr>
            <a:r>
              <a:rPr sz="1575" b="0">
                <a:solidFill>
                  <a:srgbClr val="5D5A54"/>
                </a:solidFill>
                <a:latin typeface="Hiragino Sans GB"/>
                <a:ea typeface="Hiragino Sans GB"/>
                <a:cs typeface="Hiragino Sans GB"/>
              </a:rPr>
              <a:t>許可通知</a:t>
            </a:r>
          </a:p>
        </p:txBody>
      </p:sp>
      <p:sp>
        <p:nvSpPr>
          <p:cNvPr id="11" name="">
            <a:extLst xmlns:a="http://schemas.openxmlformats.org/drawingml/2006/main">
              <a:ext uri="{FF2B5EF4-FFF2-40B4-BE49-F238E27FC236}">
                <a16:creationId xmlns:a16="http://schemas.microsoft.com/office/drawing/2014/main" id="{554CC7D8-E7B3-4587-9B68-86B117CE82F5}"/>
              </a:ext>
            </a:extLst>
          </p:cNvPr>
          <p:cNvSpPr>
            <a:spLocks xmlns:a="http://schemas.openxmlformats.org/drawingml/2006/main" noGrp="1"/>
          </p:cNvSpPr>
          <p:nvPr/>
        </p:nvSpPr>
        <p:spPr>
          <a:xfrm xmlns:a="http://schemas.openxmlformats.org/drawingml/2006/main">
            <a:off x="9124950" y="3333750"/>
            <a:ext cx="2333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700" b="1">
                <a:solidFill>
                  <a:srgbClr val="111111"/>
                </a:solidFill>
                <a:latin typeface="Helvetica Neue"/>
                <a:ea typeface="Helvetica Neue"/>
                <a:cs typeface="Helvetica Neue"/>
              </a:defRPr>
            </a:pPr>
            <a:r>
              <a:rPr sz="2700" b="1">
                <a:solidFill>
                  <a:srgbClr val="111111"/>
                </a:solidFill>
                <a:latin typeface="Helvetica Neue"/>
                <a:ea typeface="Helvetica Neue"/>
                <a:cs typeface="Helvetica Neue"/>
              </a:rPr>
              <a:t>EXCEL</a:t>
            </a:r>
          </a:p>
        </p:txBody>
      </p:sp>
      <p:sp>
        <p:nvSpPr>
          <p:cNvPr id="12" name="">
            <a:extLst xmlns:a="http://schemas.openxmlformats.org/drawingml/2006/main">
              <a:ext uri="{FF2B5EF4-FFF2-40B4-BE49-F238E27FC236}">
                <a16:creationId xmlns:a16="http://schemas.microsoft.com/office/drawing/2014/main" id="{B11FB5D6-C986-4F57-9EBB-16C98C85A7C6}"/>
              </a:ext>
            </a:extLst>
          </p:cNvPr>
          <p:cNvSpPr>
            <a:spLocks xmlns:a="http://schemas.openxmlformats.org/drawingml/2006/main" noGrp="1"/>
          </p:cNvSpPr>
          <p:nvPr/>
        </p:nvSpPr>
        <p:spPr>
          <a:xfrm xmlns:a="http://schemas.openxmlformats.org/drawingml/2006/main">
            <a:off x="9124950" y="4019550"/>
            <a:ext cx="2209800" cy="28575"/>
          </a:xfrm>
          <a:prstGeom xmlns:a="http://schemas.openxmlformats.org/drawingml/2006/main" prst="rect">
            <a:avLst/>
          </a:prstGeom>
          <a:solidFill xmlns:a="http://schemas.openxmlformats.org/drawingml/2006/main">
            <a:srgbClr val="B5B1A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A714C4-CFCE-46DB-A66A-14C19A262BA6}"/>
              </a:ext>
            </a:extLst>
          </p:cNvPr>
          <p:cNvSpPr>
            <a:spLocks xmlns:a="http://schemas.openxmlformats.org/drawingml/2006/main" noGrp="1"/>
          </p:cNvSpPr>
          <p:nvPr/>
        </p:nvSpPr>
        <p:spPr>
          <a:xfrm xmlns:a="http://schemas.openxmlformats.org/drawingml/2006/main">
            <a:off x="9124950" y="42100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5D5A54"/>
                </a:solidFill>
                <a:latin typeface="Hiragino Sans GB"/>
                <a:ea typeface="Hiragino Sans GB"/>
                <a:cs typeface="Hiragino Sans GB"/>
              </a:defRPr>
            </a:pPr>
            <a:r>
              <a:rPr sz="1575" b="0">
                <a:solidFill>
                  <a:srgbClr val="5D5A54"/>
                </a:solidFill>
                <a:latin typeface="Hiragino Sans GB"/>
                <a:ea typeface="Hiragino Sans GB"/>
                <a:cs typeface="Hiragino Sans GB"/>
              </a:rPr>
              <a:t>料金管理</a:t>
            </a:r>
          </a:p>
        </p:txBody>
      </p:sp>
      <p:sp>
        <p:nvSpPr>
          <p:cNvPr id="14" name="">
            <a:extLst xmlns:a="http://schemas.openxmlformats.org/drawingml/2006/main">
              <a:ext uri="{FF2B5EF4-FFF2-40B4-BE49-F238E27FC236}">
                <a16:creationId xmlns:a16="http://schemas.microsoft.com/office/drawing/2014/main" id="{B9842708-97C6-4CEB-9583-7ED0FF602FDE}"/>
              </a:ext>
            </a:extLst>
          </p:cNvPr>
          <p:cNvSpPr>
            <a:spLocks xmlns:a="http://schemas.openxmlformats.org/drawingml/2006/main" noGrp="1"/>
          </p:cNvSpPr>
          <p:nvPr/>
        </p:nvSpPr>
        <p:spPr>
          <a:xfrm xmlns:a="http://schemas.openxmlformats.org/drawingml/2006/main">
            <a:off x="723900" y="5334000"/>
            <a:ext cx="904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1">
                <a:solidFill>
                  <a:srgbClr val="111111"/>
                </a:solidFill>
                <a:latin typeface="Hiragino Sans GB"/>
                <a:ea typeface="Hiragino Sans GB"/>
                <a:cs typeface="Hiragino Sans GB"/>
              </a:defRPr>
            </a:pPr>
            <a:r>
              <a:rPr sz="2025" b="1">
                <a:solidFill>
                  <a:srgbClr val="111111"/>
                </a:solidFill>
                <a:latin typeface="Hiragino Sans GB"/>
                <a:ea typeface="Hiragino Sans GB"/>
                <a:cs typeface="Hiragino Sans GB"/>
              </a:rPr>
              <a:t>見落とし、転記、状況確認の手間が生まれる</a:t>
            </a:r>
          </a:p>
        </p:txBody>
      </p:sp>
      <p:sp>
        <p:nvSpPr>
          <p:cNvPr id="15" name="">
            <a:extLst xmlns:a="http://schemas.openxmlformats.org/drawingml/2006/main">
              <a:ext uri="{FF2B5EF4-FFF2-40B4-BE49-F238E27FC236}">
                <a16:creationId xmlns:a16="http://schemas.microsoft.com/office/drawing/2014/main" id="{F653028D-C4EA-4BAA-8069-9D4AF33519BD}"/>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HIR AIZUMI SHIGYO PORTAL</a:t>
            </a:r>
          </a:p>
        </p:txBody>
      </p:sp>
      <p:sp>
        <p:nvSpPr>
          <p:cNvPr id="16" name="">
            <a:extLst xmlns:a="http://schemas.openxmlformats.org/drawingml/2006/main">
              <a:ext uri="{FF2B5EF4-FFF2-40B4-BE49-F238E27FC236}">
                <a16:creationId xmlns:a16="http://schemas.microsoft.com/office/drawing/2014/main" id="{7798767C-BB6D-4F5A-96DD-B31236713C75}"/>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02</a:t>
            </a:r>
          </a:p>
        </p:txBody>
      </p:sp>
    </p:spTree>
    <p:extLst>
      <p:ext uri="{BB962C8B-B14F-4D97-AF65-F5344CB8AC3E}">
        <p14:creationId xmlns:p14="http://schemas.microsoft.com/office/powerpoint/2010/main" val="268615489"/>
      </p:ext>
    </p:extLst>
  </p:cSld>
</p:sld>
</file>

<file path=ppt/slides/slide3.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37965E-9438-47B8-81B5-5B56D74226C9}"/>
              </a:ext>
            </a:extLst>
          </p:cNvPr>
          <p:cNvSpPr>
            <a:spLocks xmlns:a="http://schemas.openxmlformats.org/drawingml/2006/main" noGrp="1"/>
          </p:cNvSpPr>
          <p:nvPr/>
        </p:nvSpPr>
        <p:spPr>
          <a:xfrm xmlns:a="http://schemas.openxmlformats.org/drawingml/2006/main">
            <a:off x="742950" y="1000125"/>
            <a:ext cx="723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75" b="0">
                <a:solidFill>
                  <a:srgbClr val="AAA9A4"/>
                </a:solidFill>
                <a:latin typeface="Hiragino Sans GB"/>
                <a:ea typeface="Hiragino Sans GB"/>
                <a:cs typeface="Hiragino Sans GB"/>
              </a:defRPr>
            </a:pPr>
            <a:r>
              <a:rPr sz="1875" b="0">
                <a:solidFill>
                  <a:srgbClr val="AAA9A4"/>
                </a:solidFill>
                <a:latin typeface="Hiragino Sans GB"/>
                <a:ea typeface="Hiragino Sans GB"/>
                <a:cs typeface="Hiragino Sans GB"/>
              </a:rPr>
              <a:t>その答えとして制作したのが</a:t>
            </a:r>
          </a:p>
        </p:txBody>
      </p:sp>
      <p:sp>
        <p:nvSpPr>
          <p:cNvPr id="2" name="">
            <a:extLst xmlns:a="http://schemas.openxmlformats.org/drawingml/2006/main">
              <a:ext uri="{FF2B5EF4-FFF2-40B4-BE49-F238E27FC236}">
                <a16:creationId xmlns:a16="http://schemas.microsoft.com/office/drawing/2014/main" id="{95C6389F-CAD9-4838-8DBC-E304EF51C497}"/>
              </a:ext>
            </a:extLst>
          </p:cNvPr>
          <p:cNvSpPr>
            <a:spLocks xmlns:a="http://schemas.openxmlformats.org/drawingml/2006/main" noGrp="1"/>
          </p:cNvSpPr>
          <p:nvPr/>
        </p:nvSpPr>
        <p:spPr>
          <a:xfrm xmlns:a="http://schemas.openxmlformats.org/drawingml/2006/main">
            <a:off x="704850" y="1619250"/>
            <a:ext cx="106680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5700" b="1">
                <a:solidFill>
                  <a:srgbClr val="FFFFFF"/>
                </a:solidFill>
                <a:latin typeface="Hiragino Sans GB"/>
                <a:ea typeface="Hiragino Sans GB"/>
                <a:cs typeface="Hiragino Sans GB"/>
              </a:defRPr>
            </a:pPr>
            <a:r>
              <a:rPr sz="5700" b="1">
                <a:solidFill>
                  <a:srgbClr val="FFFFFF"/>
                </a:solidFill>
                <a:latin typeface="Hiragino Sans GB"/>
                <a:ea typeface="Hiragino Sans GB"/>
                <a:cs typeface="Hiragino Sans GB"/>
              </a:rPr>
              <a:t>ひらいずみ</a:t>
            </a:r>
          </a:p>
          <a:p xmlns:a="http://schemas.openxmlformats.org/drawingml/2006/main">
            <a:pPr algn="l">
              <a:defRPr sz="5700" b="1">
                <a:solidFill>
                  <a:srgbClr val="FFFFFF"/>
                </a:solidFill>
                <a:latin typeface="Hiragino Sans GB"/>
                <a:ea typeface="Hiragino Sans GB"/>
                <a:cs typeface="Hiragino Sans GB"/>
              </a:defRPr>
            </a:pPr>
            <a:r>
              <a:rPr sz="5700" b="1">
                <a:solidFill>
                  <a:srgbClr val="FFFFFF"/>
                </a:solidFill>
                <a:latin typeface="Hiragino Sans GB"/>
                <a:ea typeface="Hiragino Sans GB"/>
                <a:cs typeface="Hiragino Sans GB"/>
              </a:rPr>
              <a:t>志業ポータル</a:t>
            </a:r>
          </a:p>
        </p:txBody>
      </p:sp>
      <p:sp>
        <p:nvSpPr>
          <p:cNvPr id="3" name="">
            <a:extLst xmlns:a="http://schemas.openxmlformats.org/drawingml/2006/main">
              <a:ext uri="{FF2B5EF4-FFF2-40B4-BE49-F238E27FC236}">
                <a16:creationId xmlns:a16="http://schemas.microsoft.com/office/drawing/2014/main" id="{309F005B-F1CB-4699-948A-3CC3268D2478}"/>
              </a:ext>
            </a:extLst>
          </p:cNvPr>
          <p:cNvSpPr>
            <a:spLocks xmlns:a="http://schemas.openxmlformats.org/drawingml/2006/main" noGrp="1"/>
          </p:cNvSpPr>
          <p:nvPr/>
        </p:nvSpPr>
        <p:spPr>
          <a:xfrm xmlns:a="http://schemas.openxmlformats.org/drawingml/2006/main">
            <a:off x="742950" y="4410075"/>
            <a:ext cx="1066800" cy="76200"/>
          </a:xfrm>
          <a:prstGeom xmlns:a="http://schemas.openxmlformats.org/drawingml/2006/main" prst="rect">
            <a:avLst/>
          </a:prstGeom>
          <a:solidFill xmlns:a="http://schemas.openxmlformats.org/drawingml/2006/main">
            <a:srgbClr val="FF5A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0C7B7E-2F86-471B-9DAF-E216699A5C45}"/>
              </a:ext>
            </a:extLst>
          </p:cNvPr>
          <p:cNvSpPr>
            <a:spLocks xmlns:a="http://schemas.openxmlformats.org/drawingml/2006/main" noGrp="1"/>
          </p:cNvSpPr>
          <p:nvPr/>
        </p:nvSpPr>
        <p:spPr>
          <a:xfrm xmlns:a="http://schemas.openxmlformats.org/drawingml/2006/main">
            <a:off x="7429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FF5A36"/>
                </a:solidFill>
                <a:latin typeface="Hiragino Sans GB"/>
                <a:ea typeface="Hiragino Sans GB"/>
                <a:cs typeface="Hiragino Sans GB"/>
              </a:defRPr>
            </a:pPr>
            <a:r>
              <a:rPr sz="2325" b="1">
                <a:solidFill>
                  <a:srgbClr val="FF5A36"/>
                </a:solidFill>
                <a:latin typeface="Hiragino Sans GB"/>
                <a:ea typeface="Hiragino Sans GB"/>
                <a:cs typeface="Hiragino Sans GB"/>
              </a:rPr>
              <a:t>申請から許可、部屋、料金、入退去までを一元管理</a:t>
            </a:r>
          </a:p>
        </p:txBody>
      </p:sp>
      <p:sp>
        <p:nvSpPr>
          <p:cNvPr id="5" name="">
            <a:extLst xmlns:a="http://schemas.openxmlformats.org/drawingml/2006/main">
              <a:ext uri="{FF2B5EF4-FFF2-40B4-BE49-F238E27FC236}">
                <a16:creationId xmlns:a16="http://schemas.microsoft.com/office/drawing/2014/main" id="{A678E8DD-8FA6-4F42-95A6-12BD9E056221}"/>
              </a:ext>
            </a:extLst>
          </p:cNvPr>
          <p:cNvSpPr>
            <a:spLocks xmlns:a="http://schemas.openxmlformats.org/drawingml/2006/main" noGrp="1"/>
          </p:cNvSpPr>
          <p:nvPr/>
        </p:nvSpPr>
        <p:spPr>
          <a:xfrm xmlns:a="http://schemas.openxmlformats.org/drawingml/2006/main">
            <a:off x="762000" y="560070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9C9C97"/>
                </a:solidFill>
                <a:latin typeface="Helvetica Neue"/>
                <a:ea typeface="Helvetica Neue"/>
                <a:cs typeface="Helvetica Neue"/>
              </a:defRPr>
            </a:pPr>
            <a:r>
              <a:rPr sz="1350" b="0">
                <a:solidFill>
                  <a:srgbClr val="9C9C97"/>
                </a:solidFill>
                <a:latin typeface="Helvetica Neue"/>
                <a:ea typeface="Helvetica Neue"/>
                <a:cs typeface="Helvetica Neue"/>
              </a:rPr>
              <a:t>Next.js  /  React  /  Supabase  /  Vercel</a:t>
            </a:r>
          </a:p>
        </p:txBody>
      </p:sp>
      <p:sp>
        <p:nvSpPr>
          <p:cNvPr id="6" name="">
            <a:extLst xmlns:a="http://schemas.openxmlformats.org/drawingml/2006/main">
              <a:ext uri="{FF2B5EF4-FFF2-40B4-BE49-F238E27FC236}">
                <a16:creationId xmlns:a16="http://schemas.microsoft.com/office/drawing/2014/main" id="{544F8B9A-2246-4AFE-8832-C16AB708A61F}"/>
              </a:ext>
            </a:extLst>
          </p:cNvPr>
          <p:cNvSpPr>
            <a:spLocks xmlns:a="http://schemas.openxmlformats.org/drawingml/2006/main" noGrp="1"/>
          </p:cNvSpPr>
          <p:nvPr/>
        </p:nvSpPr>
        <p:spPr>
          <a:xfrm xmlns:a="http://schemas.openxmlformats.org/drawingml/2006/main">
            <a:off x="685800" y="6096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00" b="0">
                <a:solidFill>
                  <a:srgbClr val="9C9C97"/>
                </a:solidFill>
                <a:latin typeface="Hiragino Sans GB"/>
                <a:ea typeface="Hiragino Sans GB"/>
                <a:cs typeface="Hiragino Sans GB"/>
              </a:defRPr>
            </a:pPr>
            <a:r>
              <a:rPr sz="900" b="0">
                <a:solidFill>
                  <a:srgbClr val="9C9C97"/>
                </a:solidFill>
                <a:latin typeface="Hiragino Sans GB"/>
                <a:ea typeface="Hiragino Sans GB"/>
                <a:cs typeface="Hiragino Sans GB"/>
              </a:rPr>
              <a:t>自主制作の試作版です。平泉町公式サービスではありません。</a:t>
            </a:r>
          </a:p>
        </p:txBody>
      </p:sp>
      <p:sp>
        <p:nvSpPr>
          <p:cNvPr id="7" name="">
            <a:extLst xmlns:a="http://schemas.openxmlformats.org/drawingml/2006/main">
              <a:ext uri="{FF2B5EF4-FFF2-40B4-BE49-F238E27FC236}">
                <a16:creationId xmlns:a16="http://schemas.microsoft.com/office/drawing/2014/main" id="{724C2818-0C26-4D34-B25C-A3E8CB4E7473}"/>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777772"/>
                </a:solidFill>
                <a:latin typeface="Helvetica Neue"/>
                <a:ea typeface="Helvetica Neue"/>
                <a:cs typeface="Helvetica Neue"/>
              </a:defRPr>
            </a:pPr>
            <a:r>
              <a:rPr sz="675" b="0">
                <a:solidFill>
                  <a:srgbClr val="777772"/>
                </a:solidFill>
                <a:latin typeface="Helvetica Neue"/>
                <a:ea typeface="Helvetica Neue"/>
                <a:cs typeface="Helvetica Neue"/>
              </a:rPr>
              <a:t>HIR AIZUMI SHIGYO PORTAL</a:t>
            </a:r>
          </a:p>
        </p:txBody>
      </p:sp>
      <p:sp>
        <p:nvSpPr>
          <p:cNvPr id="8" name="">
            <a:extLst xmlns:a="http://schemas.openxmlformats.org/drawingml/2006/main">
              <a:ext uri="{FF2B5EF4-FFF2-40B4-BE49-F238E27FC236}">
                <a16:creationId xmlns:a16="http://schemas.microsoft.com/office/drawing/2014/main" id="{3A9F8B9F-C290-493B-878C-2DD357A59129}"/>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777772"/>
                </a:solidFill>
                <a:latin typeface="Helvetica Neue"/>
                <a:ea typeface="Helvetica Neue"/>
                <a:cs typeface="Helvetica Neue"/>
              </a:defRPr>
            </a:pPr>
            <a:r>
              <a:rPr sz="675" b="0">
                <a:solidFill>
                  <a:srgbClr val="777772"/>
                </a:solidFill>
                <a:latin typeface="Helvetica Neue"/>
                <a:ea typeface="Helvetica Neue"/>
                <a:cs typeface="Helvetica Neue"/>
              </a:rPr>
              <a:t>03</a:t>
            </a:r>
          </a:p>
        </p:txBody>
      </p:sp>
    </p:spTree>
    <p:extLst>
      <p:ext uri="{BB962C8B-B14F-4D97-AF65-F5344CB8AC3E}">
        <p14:creationId xmlns:p14="http://schemas.microsoft.com/office/powerpoint/2010/main" val="9642691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3461DF-A757-4B75-87F6-BD04C89F3C3D}"/>
              </a:ext>
            </a:extLst>
          </p:cNvPr>
          <p:cNvSpPr>
            <a:spLocks xmlns:a="http://schemas.openxmlformats.org/drawingml/2006/main" noGrp="1"/>
          </p:cNvSpPr>
          <p:nvPr/>
        </p:nvSpPr>
        <p:spPr>
          <a:xfrm xmlns:a="http://schemas.openxmlformats.org/drawingml/2006/main">
            <a:off x="666750" y="5524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225" b="1">
                <a:solidFill>
                  <a:srgbClr val="111111"/>
                </a:solidFill>
                <a:latin typeface="Hiragino Sans GB"/>
                <a:ea typeface="Hiragino Sans GB"/>
                <a:cs typeface="Hiragino Sans GB"/>
              </a:defRPr>
            </a:pPr>
            <a:r>
              <a:rPr sz="3225" b="1">
                <a:solidFill>
                  <a:srgbClr val="111111"/>
                </a:solidFill>
                <a:latin typeface="Hiragino Sans GB"/>
                <a:ea typeface="Hiragino Sans GB"/>
                <a:cs typeface="Hiragino Sans GB"/>
              </a:rPr>
              <a:t>現在のmainで確認できること</a:t>
            </a:r>
          </a:p>
        </p:txBody>
      </p:sp>
      <p:sp>
        <p:nvSpPr>
          <p:cNvPr id="2" name="">
            <a:extLst xmlns:a="http://schemas.openxmlformats.org/drawingml/2006/main">
              <a:ext uri="{FF2B5EF4-FFF2-40B4-BE49-F238E27FC236}">
                <a16:creationId xmlns:a16="http://schemas.microsoft.com/office/drawing/2014/main" id="{F9D24523-60C7-46DC-9BB0-5A488DDBB47D}"/>
              </a:ext>
            </a:extLst>
          </p:cNvPr>
          <p:cNvSpPr>
            <a:spLocks xmlns:a="http://schemas.openxmlformats.org/drawingml/2006/main" noGrp="1"/>
          </p:cNvSpPr>
          <p:nvPr/>
        </p:nvSpPr>
        <p:spPr>
          <a:xfrm xmlns:a="http://schemas.openxmlformats.org/drawingml/2006/main">
            <a:off x="714375" y="1762125"/>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75" b="1">
                <a:solidFill>
                  <a:srgbClr val="FF5A36"/>
                </a:solidFill>
                <a:latin typeface="Hiragino Sans GB"/>
                <a:ea typeface="Hiragino Sans GB"/>
                <a:cs typeface="Hiragino Sans GB"/>
              </a:defRPr>
            </a:pPr>
            <a:r>
              <a:rPr sz="2175" b="1">
                <a:solidFill>
                  <a:srgbClr val="FF5A36"/>
                </a:solidFill>
                <a:latin typeface="Hiragino Sans GB"/>
                <a:ea typeface="Hiragino Sans GB"/>
                <a:cs typeface="Hiragino Sans GB"/>
              </a:rPr>
              <a:t>利用者</a:t>
            </a:r>
          </a:p>
        </p:txBody>
      </p:sp>
      <p:sp>
        <p:nvSpPr>
          <p:cNvPr id="3" name="">
            <a:extLst xmlns:a="http://schemas.openxmlformats.org/drawingml/2006/main">
              <a:ext uri="{FF2B5EF4-FFF2-40B4-BE49-F238E27FC236}">
                <a16:creationId xmlns:a16="http://schemas.microsoft.com/office/drawing/2014/main" id="{8A0A1861-D84D-4485-8968-8048F6AC2623}"/>
              </a:ext>
            </a:extLst>
          </p:cNvPr>
          <p:cNvSpPr>
            <a:spLocks xmlns:a="http://schemas.openxmlformats.org/drawingml/2006/main" noGrp="1"/>
          </p:cNvSpPr>
          <p:nvPr/>
        </p:nvSpPr>
        <p:spPr>
          <a:xfrm xmlns:a="http://schemas.openxmlformats.org/drawingml/2006/main">
            <a:off x="714375" y="2333625"/>
            <a:ext cx="4191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公開カレンダー</a:t>
            </a:r>
          </a:p>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キャンプ申請とPDF確認</a:t>
            </a:r>
          </a:p>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自分の部屋を確認</a:t>
            </a:r>
          </a:p>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大学・学生団体の申請と参加</a:t>
            </a:r>
          </a:p>
        </p:txBody>
      </p:sp>
      <p:sp>
        <p:nvSpPr>
          <p:cNvPr id="4" name="">
            <a:extLst xmlns:a="http://schemas.openxmlformats.org/drawingml/2006/main">
              <a:ext uri="{FF2B5EF4-FFF2-40B4-BE49-F238E27FC236}">
                <a16:creationId xmlns:a16="http://schemas.microsoft.com/office/drawing/2014/main" id="{8E748DDB-C7B0-49F1-8909-78B4ADEE6979}"/>
              </a:ext>
            </a:extLst>
          </p:cNvPr>
          <p:cNvSpPr>
            <a:spLocks xmlns:a="http://schemas.openxmlformats.org/drawingml/2006/main" noGrp="1"/>
          </p:cNvSpPr>
          <p:nvPr/>
        </p:nvSpPr>
        <p:spPr>
          <a:xfrm xmlns:a="http://schemas.openxmlformats.org/drawingml/2006/main">
            <a:off x="5810250" y="1666875"/>
            <a:ext cx="19050" cy="3143250"/>
          </a:xfrm>
          <a:prstGeom xmlns:a="http://schemas.openxmlformats.org/drawingml/2006/main" prst="rect">
            <a:avLst/>
          </a:prstGeom>
          <a:solidFill xmlns:a="http://schemas.openxmlformats.org/drawingml/2006/main">
            <a:srgbClr val="D7D5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BC73B7-C9F1-4C84-8641-CE3955108CAA}"/>
              </a:ext>
            </a:extLst>
          </p:cNvPr>
          <p:cNvSpPr>
            <a:spLocks xmlns:a="http://schemas.openxmlformats.org/drawingml/2006/main" noGrp="1"/>
          </p:cNvSpPr>
          <p:nvPr/>
        </p:nvSpPr>
        <p:spPr>
          <a:xfrm xmlns:a="http://schemas.openxmlformats.org/drawingml/2006/main">
            <a:off x="6572250" y="1762125"/>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75" b="1">
                <a:solidFill>
                  <a:srgbClr val="111111"/>
                </a:solidFill>
                <a:latin typeface="Hiragino Sans GB"/>
                <a:ea typeface="Hiragino Sans GB"/>
                <a:cs typeface="Hiragino Sans GB"/>
              </a:defRPr>
            </a:pPr>
            <a:r>
              <a:rPr sz="2175" b="1">
                <a:solidFill>
                  <a:srgbClr val="111111"/>
                </a:solidFill>
                <a:latin typeface="Hiragino Sans GB"/>
                <a:ea typeface="Hiragino Sans GB"/>
                <a:cs typeface="Hiragino Sans GB"/>
              </a:rPr>
              <a:t>職員</a:t>
            </a:r>
          </a:p>
        </p:txBody>
      </p:sp>
      <p:sp>
        <p:nvSpPr>
          <p:cNvPr id="6" name="">
            <a:extLst xmlns:a="http://schemas.openxmlformats.org/drawingml/2006/main">
              <a:ext uri="{FF2B5EF4-FFF2-40B4-BE49-F238E27FC236}">
                <a16:creationId xmlns:a16="http://schemas.microsoft.com/office/drawing/2014/main" id="{A5A23477-CF40-4C9C-BF4F-E497BDC7931B}"/>
              </a:ext>
            </a:extLst>
          </p:cNvPr>
          <p:cNvSpPr>
            <a:spLocks xmlns:a="http://schemas.openxmlformats.org/drawingml/2006/main" noGrp="1"/>
          </p:cNvSpPr>
          <p:nvPr/>
        </p:nvSpPr>
        <p:spPr>
          <a:xfrm xmlns:a="http://schemas.openxmlformats.org/drawingml/2006/main">
            <a:off x="6572250" y="2333625"/>
            <a:ext cx="4572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申請の検索と審査</a:t>
            </a:r>
          </a:p>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対象者名簿と事前部屋案</a:t>
            </a:r>
          </a:p>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職員限定の配置表PDF</a:t>
            </a:r>
          </a:p>
          <a:p xmlns:a="http://schemas.openxmlformats.org/drawingml/2006/main">
            <a:pPr algn="l">
              <a:defRPr sz="1800" b="0">
                <a:solidFill>
                  <a:srgbClr val="111111"/>
                </a:solidFill>
                <a:latin typeface="Hiragino Sans GB"/>
                <a:ea typeface="Hiragino Sans GB"/>
                <a:cs typeface="Hiragino Sans GB"/>
              </a:defRPr>
            </a:pPr>
            <a:r>
              <a:rPr sz="1800" b="0">
                <a:solidFill>
                  <a:srgbClr val="111111"/>
                </a:solidFill>
                <a:latin typeface="Hiragino Sans GB"/>
                <a:ea typeface="Hiragino Sans GB"/>
                <a:cs typeface="Hiragino Sans GB"/>
              </a:rPr>
              <a:t>料金・納付・入退去の管理</a:t>
            </a:r>
          </a:p>
        </p:txBody>
      </p:sp>
      <p:sp>
        <p:nvSpPr>
          <p:cNvPr id="7" name="">
            <a:extLst xmlns:a="http://schemas.openxmlformats.org/drawingml/2006/main">
              <a:ext uri="{FF2B5EF4-FFF2-40B4-BE49-F238E27FC236}">
                <a16:creationId xmlns:a16="http://schemas.microsoft.com/office/drawing/2014/main" id="{24185F92-8E0E-453B-A4D3-EC8C57C4964E}"/>
              </a:ext>
            </a:extLst>
          </p:cNvPr>
          <p:cNvSpPr>
            <a:spLocks xmlns:a="http://schemas.openxmlformats.org/drawingml/2006/main" noGrp="1"/>
          </p:cNvSpPr>
          <p:nvPr/>
        </p:nvSpPr>
        <p:spPr>
          <a:xfrm xmlns:a="http://schemas.openxmlformats.org/drawingml/2006/main">
            <a:off x="714375" y="5219700"/>
            <a:ext cx="971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1">
                <a:solidFill>
                  <a:srgbClr val="2F69A7"/>
                </a:solidFill>
                <a:latin typeface="Hiragino Sans GB"/>
                <a:ea typeface="Hiragino Sans GB"/>
                <a:cs typeface="Hiragino Sans GB"/>
              </a:defRPr>
            </a:pPr>
            <a:r>
              <a:rPr sz="2025" b="1">
                <a:solidFill>
                  <a:srgbClr val="2F69A7"/>
                </a:solidFill>
                <a:latin typeface="Hiragino Sans GB"/>
                <a:ea typeface="Hiragino Sans GB"/>
                <a:cs typeface="Hiragino Sans GB"/>
              </a:rPr>
              <a:t>公開本番と、mainへ統合済みの機能を区別</a:t>
            </a:r>
          </a:p>
        </p:txBody>
      </p:sp>
      <p:sp>
        <p:nvSpPr>
          <p:cNvPr id="8" name="">
            <a:extLst xmlns:a="http://schemas.openxmlformats.org/drawingml/2006/main">
              <a:ext uri="{FF2B5EF4-FFF2-40B4-BE49-F238E27FC236}">
                <a16:creationId xmlns:a16="http://schemas.microsoft.com/office/drawing/2014/main" id="{5E64D7FF-5A1D-4CCE-87A1-27253BE00C22}"/>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HIR AIZUMI SHIGYO PORTAL</a:t>
            </a:r>
          </a:p>
        </p:txBody>
      </p:sp>
      <p:sp>
        <p:nvSpPr>
          <p:cNvPr id="9" name="">
            <a:extLst xmlns:a="http://schemas.openxmlformats.org/drawingml/2006/main">
              <a:ext uri="{FF2B5EF4-FFF2-40B4-BE49-F238E27FC236}">
                <a16:creationId xmlns:a16="http://schemas.microsoft.com/office/drawing/2014/main" id="{105CDF77-9AAF-4DAD-80FA-8800114268E4}"/>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04</a:t>
            </a:r>
          </a:p>
        </p:txBody>
      </p:sp>
    </p:spTree>
    <p:extLst>
      <p:ext uri="{BB962C8B-B14F-4D97-AF65-F5344CB8AC3E}">
        <p14:creationId xmlns:p14="http://schemas.microsoft.com/office/powerpoint/2010/main" val="1716155037"/>
      </p:ext>
    </p:extLst>
  </p:cSld>
</p:sld>
</file>

<file path=ppt/slides/slide5.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09A4906-226A-4E5C-B62F-EAD3D49E17AC}"/>
              </a:ext>
            </a:extLst>
          </p:cNvPr>
          <p:cNvSpPr>
            <a:spLocks xmlns:a="http://schemas.openxmlformats.org/drawingml/2006/main" noGrp="1"/>
          </p:cNvSpPr>
          <p:nvPr/>
        </p:nvSpPr>
        <p:spPr>
          <a:xfrm xmlns:a="http://schemas.openxmlformats.org/drawingml/2006/main">
            <a:off x="723900" y="590550"/>
            <a:ext cx="7620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443"/>
          </a:bodyPr>
          <a:lstStyle xmlns:a="http://schemas.openxmlformats.org/drawingml/2006/main"/>
          <a:p xmlns:a="http://schemas.openxmlformats.org/drawingml/2006/main">
            <a:pPr algn="l">
              <a:defRPr sz="4575" b="1">
                <a:solidFill>
                  <a:srgbClr val="FF5A36"/>
                </a:solidFill>
                <a:latin typeface="Helvetica Neue"/>
                <a:ea typeface="Helvetica Neue"/>
                <a:cs typeface="Helvetica Neue"/>
              </a:defRPr>
            </a:pPr>
            <a:r>
              <a:rPr sz="4575" b="1">
                <a:solidFill>
                  <a:srgbClr val="FF5A36"/>
                </a:solidFill>
                <a:latin typeface="Helvetica Neue"/>
                <a:ea typeface="Helvetica Neue"/>
                <a:cs typeface="Helvetica Neue"/>
              </a:rPr>
              <a:t>LIVE DEMO</a:t>
            </a:r>
          </a:p>
        </p:txBody>
      </p:sp>
      <p:sp>
        <p:nvSpPr>
          <p:cNvPr id="2" name="">
            <a:extLst xmlns:a="http://schemas.openxmlformats.org/drawingml/2006/main">
              <a:ext uri="{FF2B5EF4-FFF2-40B4-BE49-F238E27FC236}">
                <a16:creationId xmlns:a16="http://schemas.microsoft.com/office/drawing/2014/main" id="{3102FF51-B273-411B-BEFF-D41BCA970D88}"/>
              </a:ext>
            </a:extLst>
          </p:cNvPr>
          <p:cNvSpPr>
            <a:spLocks xmlns:a="http://schemas.openxmlformats.org/drawingml/2006/main" noGrp="1"/>
          </p:cNvSpPr>
          <p:nvPr/>
        </p:nvSpPr>
        <p:spPr>
          <a:xfrm xmlns:a="http://schemas.openxmlformats.org/drawingml/2006/main">
            <a:off x="742950" y="1381125"/>
            <a:ext cx="876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550" b="1">
                <a:solidFill>
                  <a:srgbClr val="FFFFFF"/>
                </a:solidFill>
                <a:latin typeface="Hiragino Sans GB"/>
                <a:ea typeface="Hiragino Sans GB"/>
                <a:cs typeface="Hiragino Sans GB"/>
              </a:defRPr>
            </a:pPr>
            <a:r>
              <a:rPr sz="2550" b="1">
                <a:solidFill>
                  <a:srgbClr val="FFFFFF"/>
                </a:solidFill>
                <a:latin typeface="Hiragino Sans GB"/>
                <a:ea typeface="Hiragino Sans GB"/>
                <a:cs typeface="Hiragino Sans GB"/>
              </a:rPr>
              <a:t>申請が、許可に変わるまで</a:t>
            </a:r>
          </a:p>
        </p:txBody>
      </p:sp>
      <p:sp>
        <p:nvSpPr>
          <p:cNvPr id="3" name="">
            <a:extLst xmlns:a="http://schemas.openxmlformats.org/drawingml/2006/main">
              <a:ext uri="{FF2B5EF4-FFF2-40B4-BE49-F238E27FC236}">
                <a16:creationId xmlns:a16="http://schemas.microsoft.com/office/drawing/2014/main" id="{44A92B8E-DA47-4035-8D64-F55A857FAABD}"/>
              </a:ext>
            </a:extLst>
          </p:cNvPr>
          <p:cNvSpPr>
            <a:spLocks xmlns:a="http://schemas.openxmlformats.org/drawingml/2006/main" noGrp="1"/>
          </p:cNvSpPr>
          <p:nvPr/>
        </p:nvSpPr>
        <p:spPr>
          <a:xfrm xmlns:a="http://schemas.openxmlformats.org/drawingml/2006/main">
            <a:off x="1257300" y="3371850"/>
            <a:ext cx="9144000" cy="38100"/>
          </a:xfrm>
          <a:prstGeom xmlns:a="http://schemas.openxmlformats.org/drawingml/2006/main" prst="rect">
            <a:avLst/>
          </a:prstGeom>
          <a:solidFill xmlns:a="http://schemas.openxmlformats.org/drawingml/2006/main">
            <a:srgbClr val="3F3F3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096451-6979-4CD4-B05C-735B71DA42CD}"/>
              </a:ext>
            </a:extLst>
          </p:cNvPr>
          <p:cNvSpPr>
            <a:spLocks xmlns:a="http://schemas.openxmlformats.org/drawingml/2006/main" noGrp="1"/>
          </p:cNvSpPr>
          <p:nvPr/>
        </p:nvSpPr>
        <p:spPr>
          <a:xfrm xmlns:a="http://schemas.openxmlformats.org/drawingml/2006/main">
            <a:off x="1219200" y="3028950"/>
            <a:ext cx="7239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8A515A-EFCE-4B68-B93D-78F6BB9C9452}"/>
              </a:ext>
            </a:extLst>
          </p:cNvPr>
          <p:cNvSpPr>
            <a:spLocks xmlns:a="http://schemas.openxmlformats.org/drawingml/2006/main" noGrp="1"/>
          </p:cNvSpPr>
          <p:nvPr/>
        </p:nvSpPr>
        <p:spPr>
          <a:xfrm xmlns:a="http://schemas.openxmlformats.org/drawingml/2006/main">
            <a:off x="1352550" y="3181350"/>
            <a:ext cx="47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8B5A21D6-3A05-4735-95CD-A47DBD76B2BD}"/>
              </a:ext>
            </a:extLst>
          </p:cNvPr>
          <p:cNvSpPr>
            <a:spLocks xmlns:a="http://schemas.openxmlformats.org/drawingml/2006/main" noGrp="1"/>
          </p:cNvSpPr>
          <p:nvPr/>
        </p:nvSpPr>
        <p:spPr>
          <a:xfrm xmlns:a="http://schemas.openxmlformats.org/drawingml/2006/main">
            <a:off x="800100" y="4048125"/>
            <a:ext cx="209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Hiragino Sans GB"/>
                <a:ea typeface="Hiragino Sans GB"/>
                <a:cs typeface="Hiragino Sans GB"/>
              </a:defRPr>
            </a:pPr>
            <a:r>
              <a:rPr sz="1650" b="1">
                <a:solidFill>
                  <a:srgbClr val="FFFFFF"/>
                </a:solidFill>
                <a:latin typeface="Hiragino Sans GB"/>
                <a:ea typeface="Hiragino Sans GB"/>
                <a:cs typeface="Hiragino Sans GB"/>
              </a:rPr>
              <a:t>空き状況</a:t>
            </a:r>
          </a:p>
        </p:txBody>
      </p:sp>
      <p:sp>
        <p:nvSpPr>
          <p:cNvPr id="7" name="">
            <a:extLst xmlns:a="http://schemas.openxmlformats.org/drawingml/2006/main">
              <a:ext uri="{FF2B5EF4-FFF2-40B4-BE49-F238E27FC236}">
                <a16:creationId xmlns:a16="http://schemas.microsoft.com/office/drawing/2014/main" id="{08D19168-BCCD-4B64-A756-E933259AA8C1}"/>
              </a:ext>
            </a:extLst>
          </p:cNvPr>
          <p:cNvSpPr>
            <a:spLocks xmlns:a="http://schemas.openxmlformats.org/drawingml/2006/main" noGrp="1"/>
          </p:cNvSpPr>
          <p:nvPr/>
        </p:nvSpPr>
        <p:spPr>
          <a:xfrm xmlns:a="http://schemas.openxmlformats.org/drawingml/2006/main">
            <a:off x="4000500" y="3028950"/>
            <a:ext cx="7239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2CC5C16-5139-4611-8A5D-B4B9440A8F86}"/>
              </a:ext>
            </a:extLst>
          </p:cNvPr>
          <p:cNvSpPr>
            <a:spLocks xmlns:a="http://schemas.openxmlformats.org/drawingml/2006/main" noGrp="1"/>
          </p:cNvSpPr>
          <p:nvPr/>
        </p:nvSpPr>
        <p:spPr>
          <a:xfrm xmlns:a="http://schemas.openxmlformats.org/drawingml/2006/main">
            <a:off x="4133850" y="3181350"/>
            <a:ext cx="47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1693EE68-402B-4C6C-9DAE-67CF2A591CA8}"/>
              </a:ext>
            </a:extLst>
          </p:cNvPr>
          <p:cNvSpPr>
            <a:spLocks xmlns:a="http://schemas.openxmlformats.org/drawingml/2006/main" noGrp="1"/>
          </p:cNvSpPr>
          <p:nvPr/>
        </p:nvSpPr>
        <p:spPr>
          <a:xfrm xmlns:a="http://schemas.openxmlformats.org/drawingml/2006/main">
            <a:off x="3581400" y="4048125"/>
            <a:ext cx="209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Hiragino Sans GB"/>
                <a:ea typeface="Hiragino Sans GB"/>
                <a:cs typeface="Hiragino Sans GB"/>
              </a:defRPr>
            </a:pPr>
            <a:r>
              <a:rPr sz="1650" b="1">
                <a:solidFill>
                  <a:srgbClr val="FFFFFF"/>
                </a:solidFill>
                <a:latin typeface="Hiragino Sans GB"/>
                <a:ea typeface="Hiragino Sans GB"/>
                <a:cs typeface="Hiragino Sans GB"/>
              </a:rPr>
              <a:t>申請状況</a:t>
            </a:r>
          </a:p>
        </p:txBody>
      </p:sp>
      <p:sp>
        <p:nvSpPr>
          <p:cNvPr id="10" name="">
            <a:extLst xmlns:a="http://schemas.openxmlformats.org/drawingml/2006/main">
              <a:ext uri="{FF2B5EF4-FFF2-40B4-BE49-F238E27FC236}">
                <a16:creationId xmlns:a16="http://schemas.microsoft.com/office/drawing/2014/main" id="{0D5AA373-C0A4-439D-93F1-73B4848D83EA}"/>
              </a:ext>
            </a:extLst>
          </p:cNvPr>
          <p:cNvSpPr>
            <a:spLocks xmlns:a="http://schemas.openxmlformats.org/drawingml/2006/main" noGrp="1"/>
          </p:cNvSpPr>
          <p:nvPr/>
        </p:nvSpPr>
        <p:spPr>
          <a:xfrm xmlns:a="http://schemas.openxmlformats.org/drawingml/2006/main">
            <a:off x="6781800" y="3028950"/>
            <a:ext cx="7239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6D443EB-BB98-4C8E-B574-4AC189C60BCC}"/>
              </a:ext>
            </a:extLst>
          </p:cNvPr>
          <p:cNvSpPr>
            <a:spLocks xmlns:a="http://schemas.openxmlformats.org/drawingml/2006/main" noGrp="1"/>
          </p:cNvSpPr>
          <p:nvPr/>
        </p:nvSpPr>
        <p:spPr>
          <a:xfrm xmlns:a="http://schemas.openxmlformats.org/drawingml/2006/main">
            <a:off x="6915150" y="3181350"/>
            <a:ext cx="47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5146CEA6-A751-4266-8659-B4B2B613A966}"/>
              </a:ext>
            </a:extLst>
          </p:cNvPr>
          <p:cNvSpPr>
            <a:spLocks xmlns:a="http://schemas.openxmlformats.org/drawingml/2006/main" noGrp="1"/>
          </p:cNvSpPr>
          <p:nvPr/>
        </p:nvSpPr>
        <p:spPr>
          <a:xfrm xmlns:a="http://schemas.openxmlformats.org/drawingml/2006/main">
            <a:off x="6362700" y="4048125"/>
            <a:ext cx="209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Hiragino Sans GB"/>
                <a:ea typeface="Hiragino Sans GB"/>
                <a:cs typeface="Hiragino Sans GB"/>
              </a:defRPr>
            </a:pPr>
            <a:r>
              <a:rPr sz="1650" b="1">
                <a:solidFill>
                  <a:srgbClr val="FFFFFF"/>
                </a:solidFill>
                <a:latin typeface="Hiragino Sans GB"/>
                <a:ea typeface="Hiragino Sans GB"/>
                <a:cs typeface="Hiragino Sans GB"/>
              </a:rPr>
              <a:t>自分の部屋</a:t>
            </a:r>
          </a:p>
        </p:txBody>
      </p:sp>
      <p:sp>
        <p:nvSpPr>
          <p:cNvPr id="13" name="">
            <a:extLst xmlns:a="http://schemas.openxmlformats.org/drawingml/2006/main">
              <a:ext uri="{FF2B5EF4-FFF2-40B4-BE49-F238E27FC236}">
                <a16:creationId xmlns:a16="http://schemas.microsoft.com/office/drawing/2014/main" id="{BC232ABC-4A48-4733-AFD2-031AA71D0543}"/>
              </a:ext>
            </a:extLst>
          </p:cNvPr>
          <p:cNvSpPr>
            <a:spLocks xmlns:a="http://schemas.openxmlformats.org/drawingml/2006/main" noGrp="1"/>
          </p:cNvSpPr>
          <p:nvPr/>
        </p:nvSpPr>
        <p:spPr>
          <a:xfrm xmlns:a="http://schemas.openxmlformats.org/drawingml/2006/main">
            <a:off x="9563100" y="3028950"/>
            <a:ext cx="723900" cy="723900"/>
          </a:xfrm>
          <a:prstGeom xmlns:a="http://schemas.openxmlformats.org/drawingml/2006/main" prst="roundRect">
            <a:avLst>
              <a:gd name="adj" fmla="val 10526"/>
            </a:avLst>
          </a:prstGeom>
          <a:solidFill xmlns:a="http://schemas.openxmlformats.org/drawingml/2006/main">
            <a:srgbClr val="FF5A3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A5E26EC-016B-43EE-A51F-8681989A9679}"/>
              </a:ext>
            </a:extLst>
          </p:cNvPr>
          <p:cNvSpPr>
            <a:spLocks xmlns:a="http://schemas.openxmlformats.org/drawingml/2006/main" noGrp="1"/>
          </p:cNvSpPr>
          <p:nvPr/>
        </p:nvSpPr>
        <p:spPr>
          <a:xfrm xmlns:a="http://schemas.openxmlformats.org/drawingml/2006/main">
            <a:off x="9696450" y="3181350"/>
            <a:ext cx="47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11111"/>
                </a:solidFill>
                <a:latin typeface="Helvetica Neue"/>
                <a:ea typeface="Helvetica Neue"/>
                <a:cs typeface="Helvetica Neue"/>
              </a:defRPr>
            </a:pPr>
            <a:r>
              <a:rPr sz="1650" b="1">
                <a:solidFill>
                  <a:srgbClr val="111111"/>
                </a:solidFill>
                <a:latin typeface="Helvetica Neue"/>
                <a:ea typeface="Helvetica Neue"/>
                <a:cs typeface="Helvetica Neue"/>
              </a:rPr>
              <a:t>04</a:t>
            </a:r>
          </a:p>
        </p:txBody>
      </p:sp>
      <p:sp>
        <p:nvSpPr>
          <p:cNvPr id="15" name="">
            <a:extLst xmlns:a="http://schemas.openxmlformats.org/drawingml/2006/main">
              <a:ext uri="{FF2B5EF4-FFF2-40B4-BE49-F238E27FC236}">
                <a16:creationId xmlns:a16="http://schemas.microsoft.com/office/drawing/2014/main" id="{66E145E0-6E05-4FE8-A1AE-1D59E9D641C7}"/>
              </a:ext>
            </a:extLst>
          </p:cNvPr>
          <p:cNvSpPr>
            <a:spLocks xmlns:a="http://schemas.openxmlformats.org/drawingml/2006/main" noGrp="1"/>
          </p:cNvSpPr>
          <p:nvPr/>
        </p:nvSpPr>
        <p:spPr>
          <a:xfrm xmlns:a="http://schemas.openxmlformats.org/drawingml/2006/main">
            <a:off x="9144000" y="4048125"/>
            <a:ext cx="209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5A36"/>
                </a:solidFill>
                <a:latin typeface="Hiragino Sans GB"/>
                <a:ea typeface="Hiragino Sans GB"/>
                <a:cs typeface="Hiragino Sans GB"/>
              </a:defRPr>
            </a:pPr>
            <a:r>
              <a:rPr sz="1650" b="1">
                <a:solidFill>
                  <a:srgbClr val="FF5A36"/>
                </a:solidFill>
                <a:latin typeface="Hiragino Sans GB"/>
                <a:ea typeface="Hiragino Sans GB"/>
                <a:cs typeface="Hiragino Sans GB"/>
              </a:rPr>
              <a:t>職員の部屋案</a:t>
            </a:r>
          </a:p>
        </p:txBody>
      </p:sp>
      <p:sp>
        <p:nvSpPr>
          <p:cNvPr id="16" name="">
            <a:extLst xmlns:a="http://schemas.openxmlformats.org/drawingml/2006/main">
              <a:ext uri="{FF2B5EF4-FFF2-40B4-BE49-F238E27FC236}">
                <a16:creationId xmlns:a16="http://schemas.microsoft.com/office/drawing/2014/main" id="{87C0548B-38CA-4CA9-98C1-2093A1AD15CC}"/>
              </a:ext>
            </a:extLst>
          </p:cNvPr>
          <p:cNvSpPr>
            <a:spLocks xmlns:a="http://schemas.openxmlformats.org/drawingml/2006/main" noGrp="1"/>
          </p:cNvSpPr>
          <p:nvPr/>
        </p:nvSpPr>
        <p:spPr>
          <a:xfrm xmlns:a="http://schemas.openxmlformats.org/drawingml/2006/main">
            <a:off x="10477500" y="666750"/>
            <a:ext cx="876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75" b="1">
                <a:solidFill>
                  <a:srgbClr val="9C9C97"/>
                </a:solidFill>
                <a:latin typeface="Helvetica Neue"/>
                <a:ea typeface="Helvetica Neue"/>
                <a:cs typeface="Helvetica Neue"/>
              </a:defRPr>
            </a:pPr>
            <a:r>
              <a:rPr sz="1875" b="1">
                <a:solidFill>
                  <a:srgbClr val="9C9C97"/>
                </a:solidFill>
                <a:latin typeface="Helvetica Neue"/>
                <a:ea typeface="Helvetica Neue"/>
                <a:cs typeface="Helvetica Neue"/>
              </a:rPr>
              <a:t>3:00</a:t>
            </a:r>
          </a:p>
        </p:txBody>
      </p:sp>
      <p:sp>
        <p:nvSpPr>
          <p:cNvPr id="17" name="">
            <a:extLst xmlns:a="http://schemas.openxmlformats.org/drawingml/2006/main">
              <a:ext uri="{FF2B5EF4-FFF2-40B4-BE49-F238E27FC236}">
                <a16:creationId xmlns:a16="http://schemas.microsoft.com/office/drawing/2014/main" id="{EC901E52-561F-4AE8-8C16-7E1BEA3EE79E}"/>
              </a:ext>
            </a:extLst>
          </p:cNvPr>
          <p:cNvSpPr>
            <a:spLocks xmlns:a="http://schemas.openxmlformats.org/drawingml/2006/main" noGrp="1"/>
          </p:cNvSpPr>
          <p:nvPr/>
        </p:nvSpPr>
        <p:spPr>
          <a:xfrm xmlns:a="http://schemas.openxmlformats.org/drawingml/2006/main">
            <a:off x="742950" y="5334000"/>
            <a:ext cx="885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A6A5A0"/>
                </a:solidFill>
                <a:latin typeface="Hiragino Sans GB"/>
                <a:ea typeface="Hiragino Sans GB"/>
                <a:cs typeface="Hiragino Sans GB"/>
              </a:defRPr>
            </a:pPr>
            <a:r>
              <a:rPr sz="1575" b="0">
                <a:solidFill>
                  <a:srgbClr val="A6A5A0"/>
                </a:solidFill>
                <a:latin typeface="Hiragino Sans GB"/>
                <a:ea typeface="Hiragino Sans GB"/>
                <a:cs typeface="Hiragino Sans GB"/>
              </a:rPr>
              <a:t>通信待ちが8秒を超えたら、代替PDFへ切り替え</a:t>
            </a:r>
          </a:p>
        </p:txBody>
      </p:sp>
      <p:sp>
        <p:nvSpPr>
          <p:cNvPr id="18" name="">
            <a:extLst xmlns:a="http://schemas.openxmlformats.org/drawingml/2006/main">
              <a:ext uri="{FF2B5EF4-FFF2-40B4-BE49-F238E27FC236}">
                <a16:creationId xmlns:a16="http://schemas.microsoft.com/office/drawing/2014/main" id="{4D17AA92-7A4C-4D33-9CC1-C499489D95F9}"/>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777772"/>
                </a:solidFill>
                <a:latin typeface="Helvetica Neue"/>
                <a:ea typeface="Helvetica Neue"/>
                <a:cs typeface="Helvetica Neue"/>
              </a:defRPr>
            </a:pPr>
            <a:r>
              <a:rPr sz="675" b="0">
                <a:solidFill>
                  <a:srgbClr val="777772"/>
                </a:solidFill>
                <a:latin typeface="Helvetica Neue"/>
                <a:ea typeface="Helvetica Neue"/>
                <a:cs typeface="Helvetica Neue"/>
              </a:rPr>
              <a:t>HIR AIZUMI SHIGYO PORTAL</a:t>
            </a:r>
          </a:p>
        </p:txBody>
      </p:sp>
      <p:sp>
        <p:nvSpPr>
          <p:cNvPr id="19" name="">
            <a:extLst xmlns:a="http://schemas.openxmlformats.org/drawingml/2006/main">
              <a:ext uri="{FF2B5EF4-FFF2-40B4-BE49-F238E27FC236}">
                <a16:creationId xmlns:a16="http://schemas.microsoft.com/office/drawing/2014/main" id="{7428561B-C198-4D12-90B4-7F15B367A826}"/>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777772"/>
                </a:solidFill>
                <a:latin typeface="Helvetica Neue"/>
                <a:ea typeface="Helvetica Neue"/>
                <a:cs typeface="Helvetica Neue"/>
              </a:defRPr>
            </a:pPr>
            <a:r>
              <a:rPr sz="675" b="0">
                <a:solidFill>
                  <a:srgbClr val="777772"/>
                </a:solidFill>
                <a:latin typeface="Helvetica Neue"/>
                <a:ea typeface="Helvetica Neue"/>
                <a:cs typeface="Helvetica Neue"/>
              </a:rPr>
              <a:t>05</a:t>
            </a:r>
          </a:p>
        </p:txBody>
      </p:sp>
    </p:spTree>
    <p:extLst>
      <p:ext uri="{BB962C8B-B14F-4D97-AF65-F5344CB8AC3E}">
        <p14:creationId xmlns:p14="http://schemas.microsoft.com/office/powerpoint/2010/main" val="843324378"/>
      </p:ext>
    </p:extLst>
  </p:cSld>
</p:sld>
</file>

<file path=ppt/slides/slide6.xml><?xml version="1.0" encoding="utf-8"?>
<p:sld xmlns:p="http://schemas.openxmlformats.org/presentationml/2006/main">
  <p:cSld>
    <p:bg>
      <p:bgPr>
        <a:solidFill xmlns:a="http://schemas.openxmlformats.org/drawingml/2006/main">
          <a:srgbClr val="F4F3E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902F68C-567C-4EA0-BE10-3B6BB1816A35}"/>
              </a:ext>
            </a:extLst>
          </p:cNvPr>
          <p:cNvSpPr>
            <a:spLocks xmlns:a="http://schemas.openxmlformats.org/drawingml/2006/main" noGrp="1"/>
          </p:cNvSpPr>
          <p:nvPr/>
        </p:nvSpPr>
        <p:spPr>
          <a:xfrm xmlns:a="http://schemas.openxmlformats.org/drawingml/2006/main">
            <a:off x="666750" y="5524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225" b="1">
                <a:solidFill>
                  <a:srgbClr val="111111"/>
                </a:solidFill>
                <a:latin typeface="Hiragino Sans GB"/>
                <a:ea typeface="Hiragino Sans GB"/>
                <a:cs typeface="Hiragino Sans GB"/>
              </a:defRPr>
            </a:pPr>
            <a:r>
              <a:rPr sz="3225" b="1">
                <a:solidFill>
                  <a:srgbClr val="111111"/>
                </a:solidFill>
                <a:latin typeface="Hiragino Sans GB"/>
                <a:ea typeface="Hiragino Sans GB"/>
                <a:cs typeface="Hiragino Sans GB"/>
              </a:rPr>
              <a:t>見えないところほど、壊れにくく</a:t>
            </a:r>
          </a:p>
        </p:txBody>
      </p:sp>
      <p:sp>
        <p:nvSpPr>
          <p:cNvPr id="2" name="">
            <a:extLst xmlns:a="http://schemas.openxmlformats.org/drawingml/2006/main">
              <a:ext uri="{FF2B5EF4-FFF2-40B4-BE49-F238E27FC236}">
                <a16:creationId xmlns:a16="http://schemas.microsoft.com/office/drawing/2014/main" id="{A685557C-EC58-4969-AE2C-22D5A190800F}"/>
              </a:ext>
            </a:extLst>
          </p:cNvPr>
          <p:cNvSpPr>
            <a:spLocks xmlns:a="http://schemas.openxmlformats.org/drawingml/2006/main" noGrp="1"/>
          </p:cNvSpPr>
          <p:nvPr/>
        </p:nvSpPr>
        <p:spPr>
          <a:xfrm xmlns:a="http://schemas.openxmlformats.org/drawingml/2006/main">
            <a:off x="685800" y="180975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00" b="1">
                <a:solidFill>
                  <a:srgbClr val="FF5A36"/>
                </a:solidFill>
                <a:latin typeface="Hiragino Sans GB"/>
                <a:ea typeface="Hiragino Sans GB"/>
                <a:cs typeface="Hiragino Sans GB"/>
              </a:defRPr>
            </a:pPr>
            <a:r>
              <a:rPr sz="2100" b="1">
                <a:solidFill>
                  <a:srgbClr val="FF5A36"/>
                </a:solidFill>
                <a:latin typeface="Hiragino Sans GB"/>
                <a:ea typeface="Hiragino Sans GB"/>
                <a:cs typeface="Hiragino Sans GB"/>
              </a:rPr>
              <a:t>権限</a:t>
            </a:r>
          </a:p>
        </p:txBody>
      </p:sp>
      <p:sp>
        <p:nvSpPr>
          <p:cNvPr id="3" name="">
            <a:extLst xmlns:a="http://schemas.openxmlformats.org/drawingml/2006/main">
              <a:ext uri="{FF2B5EF4-FFF2-40B4-BE49-F238E27FC236}">
                <a16:creationId xmlns:a16="http://schemas.microsoft.com/office/drawing/2014/main" id="{6FC46B8C-C79D-4463-AE82-985B8E097558}"/>
              </a:ext>
            </a:extLst>
          </p:cNvPr>
          <p:cNvSpPr>
            <a:spLocks xmlns:a="http://schemas.openxmlformats.org/drawingml/2006/main" noGrp="1"/>
          </p:cNvSpPr>
          <p:nvPr/>
        </p:nvSpPr>
        <p:spPr>
          <a:xfrm xmlns:a="http://schemas.openxmlformats.org/drawingml/2006/main">
            <a:off x="685800" y="2457450"/>
            <a:ext cx="2857500" cy="38100"/>
          </a:xfrm>
          <a:prstGeom xmlns:a="http://schemas.openxmlformats.org/drawingml/2006/main" prst="rect">
            <a:avLst/>
          </a:prstGeom>
          <a:solidFill xmlns:a="http://schemas.openxmlformats.org/drawingml/2006/main">
            <a:srgbClr val="FF5A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2E0CF2C-5B45-411E-8152-BFD41989DA34}"/>
              </a:ext>
            </a:extLst>
          </p:cNvPr>
          <p:cNvSpPr>
            <a:spLocks xmlns:a="http://schemas.openxmlformats.org/drawingml/2006/main" noGrp="1"/>
          </p:cNvSpPr>
          <p:nvPr/>
        </p:nvSpPr>
        <p:spPr>
          <a:xfrm xmlns:a="http://schemas.openxmlformats.org/drawingml/2006/main">
            <a:off x="685800" y="2714625"/>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0">
                <a:solidFill>
                  <a:srgbClr val="111111"/>
                </a:solidFill>
                <a:latin typeface="Hiragino Sans GB"/>
                <a:ea typeface="Hiragino Sans GB"/>
                <a:cs typeface="Hiragino Sans GB"/>
              </a:defRPr>
            </a:pPr>
            <a:r>
              <a:rPr sz="1650" b="0">
                <a:solidFill>
                  <a:srgbClr val="111111"/>
                </a:solidFill>
                <a:latin typeface="Hiragino Sans GB"/>
                <a:ea typeface="Hiragino Sans GB"/>
                <a:cs typeface="Hiragino Sans GB"/>
              </a:rPr>
              <a:t>本人の申請だけを表示</a:t>
            </a:r>
          </a:p>
          <a:p xmlns:a="http://schemas.openxmlformats.org/drawingml/2006/main">
            <a:pPr algn="l">
              <a:defRPr sz="1650" b="0">
                <a:solidFill>
                  <a:srgbClr val="111111"/>
                </a:solidFill>
                <a:latin typeface="Hiragino Sans GB"/>
                <a:ea typeface="Hiragino Sans GB"/>
                <a:cs typeface="Hiragino Sans GB"/>
              </a:defRPr>
            </a:pPr>
            <a:r>
              <a:rPr sz="1650" b="0">
                <a:solidFill>
                  <a:srgbClr val="111111"/>
                </a:solidFill>
                <a:latin typeface="Hiragino Sans GB"/>
                <a:ea typeface="Hiragino Sans GB"/>
                <a:cs typeface="Hiragino Sans GB"/>
              </a:rPr>
              <a:t>職員専用操作はサーバーとDBでも確認</a:t>
            </a:r>
          </a:p>
        </p:txBody>
      </p:sp>
      <p:sp>
        <p:nvSpPr>
          <p:cNvPr id="5" name="">
            <a:extLst xmlns:a="http://schemas.openxmlformats.org/drawingml/2006/main">
              <a:ext uri="{FF2B5EF4-FFF2-40B4-BE49-F238E27FC236}">
                <a16:creationId xmlns:a16="http://schemas.microsoft.com/office/drawing/2014/main" id="{FF82D218-51AF-4AD8-BFB2-9F8997797C55}"/>
              </a:ext>
            </a:extLst>
          </p:cNvPr>
          <p:cNvSpPr>
            <a:spLocks xmlns:a="http://schemas.openxmlformats.org/drawingml/2006/main" noGrp="1"/>
          </p:cNvSpPr>
          <p:nvPr/>
        </p:nvSpPr>
        <p:spPr>
          <a:xfrm xmlns:a="http://schemas.openxmlformats.org/drawingml/2006/main">
            <a:off x="4495800" y="180975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00" b="1">
                <a:solidFill>
                  <a:srgbClr val="FF5A36"/>
                </a:solidFill>
                <a:latin typeface="Hiragino Sans GB"/>
                <a:ea typeface="Hiragino Sans GB"/>
                <a:cs typeface="Hiragino Sans GB"/>
              </a:defRPr>
            </a:pPr>
            <a:r>
              <a:rPr sz="2100" b="1">
                <a:solidFill>
                  <a:srgbClr val="FF5A36"/>
                </a:solidFill>
                <a:latin typeface="Hiragino Sans GB"/>
                <a:ea typeface="Hiragino Sans GB"/>
                <a:cs typeface="Hiragino Sans GB"/>
              </a:rPr>
              <a:t>整合性</a:t>
            </a:r>
          </a:p>
        </p:txBody>
      </p:sp>
      <p:sp>
        <p:nvSpPr>
          <p:cNvPr id="6" name="">
            <a:extLst xmlns:a="http://schemas.openxmlformats.org/drawingml/2006/main">
              <a:ext uri="{FF2B5EF4-FFF2-40B4-BE49-F238E27FC236}">
                <a16:creationId xmlns:a16="http://schemas.microsoft.com/office/drawing/2014/main" id="{FE1A1E60-256B-4B17-9CA2-9C014A085D22}"/>
              </a:ext>
            </a:extLst>
          </p:cNvPr>
          <p:cNvSpPr>
            <a:spLocks xmlns:a="http://schemas.openxmlformats.org/drawingml/2006/main" noGrp="1"/>
          </p:cNvSpPr>
          <p:nvPr/>
        </p:nvSpPr>
        <p:spPr>
          <a:xfrm xmlns:a="http://schemas.openxmlformats.org/drawingml/2006/main">
            <a:off x="4495800" y="2457450"/>
            <a:ext cx="2857500" cy="38100"/>
          </a:xfrm>
          <a:prstGeom xmlns:a="http://schemas.openxmlformats.org/drawingml/2006/main" prst="rect">
            <a:avLst/>
          </a:prstGeom>
          <a:solidFill xmlns:a="http://schemas.openxmlformats.org/drawingml/2006/main">
            <a:srgbClr val="C9C6B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CCE3897-E716-4809-915A-F18621E9CB2B}"/>
              </a:ext>
            </a:extLst>
          </p:cNvPr>
          <p:cNvSpPr>
            <a:spLocks xmlns:a="http://schemas.openxmlformats.org/drawingml/2006/main" noGrp="1"/>
          </p:cNvSpPr>
          <p:nvPr/>
        </p:nvSpPr>
        <p:spPr>
          <a:xfrm xmlns:a="http://schemas.openxmlformats.org/drawingml/2006/main">
            <a:off x="4495800" y="2714625"/>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0">
                <a:solidFill>
                  <a:srgbClr val="111111"/>
                </a:solidFill>
                <a:latin typeface="Hiragino Sans GB"/>
                <a:ea typeface="Hiragino Sans GB"/>
                <a:cs typeface="Hiragino Sans GB"/>
              </a:defRPr>
            </a:pPr>
            <a:r>
              <a:rPr sz="1650" b="0">
                <a:solidFill>
                  <a:srgbClr val="111111"/>
                </a:solidFill>
                <a:latin typeface="Hiragino Sans GB"/>
                <a:ea typeface="Hiragino Sans GB"/>
                <a:cs typeface="Hiragino Sans GB"/>
              </a:rPr>
              <a:t>施設15人と部屋別定員をDBで検査</a:t>
            </a:r>
          </a:p>
          <a:p xmlns:a="http://schemas.openxmlformats.org/drawingml/2006/main">
            <a:pPr algn="l">
              <a:defRPr sz="1650" b="0">
                <a:solidFill>
                  <a:srgbClr val="111111"/>
                </a:solidFill>
                <a:latin typeface="Hiragino Sans GB"/>
                <a:ea typeface="Hiragino Sans GB"/>
                <a:cs typeface="Hiragino Sans GB"/>
              </a:defRPr>
            </a:pPr>
            <a:r>
              <a:rPr sz="1650" b="0">
                <a:solidFill>
                  <a:srgbClr val="111111"/>
                </a:solidFill>
                <a:latin typeface="Hiragino Sans GB"/>
                <a:ea typeface="Hiragino Sans GB"/>
                <a:cs typeface="Hiragino Sans GB"/>
              </a:rPr>
              <a:t>同時操作でも超過を防ぐ</a:t>
            </a:r>
          </a:p>
        </p:txBody>
      </p:sp>
      <p:sp>
        <p:nvSpPr>
          <p:cNvPr id="8" name="">
            <a:extLst xmlns:a="http://schemas.openxmlformats.org/drawingml/2006/main">
              <a:ext uri="{FF2B5EF4-FFF2-40B4-BE49-F238E27FC236}">
                <a16:creationId xmlns:a16="http://schemas.microsoft.com/office/drawing/2014/main" id="{DB576D50-4CA8-4A20-8EBC-BE85A9CA1304}"/>
              </a:ext>
            </a:extLst>
          </p:cNvPr>
          <p:cNvSpPr>
            <a:spLocks xmlns:a="http://schemas.openxmlformats.org/drawingml/2006/main" noGrp="1"/>
          </p:cNvSpPr>
          <p:nvPr/>
        </p:nvSpPr>
        <p:spPr>
          <a:xfrm xmlns:a="http://schemas.openxmlformats.org/drawingml/2006/main">
            <a:off x="8305800" y="180975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00" b="1">
                <a:solidFill>
                  <a:srgbClr val="FF5A36"/>
                </a:solidFill>
                <a:latin typeface="Hiragino Sans GB"/>
                <a:ea typeface="Hiragino Sans GB"/>
                <a:cs typeface="Hiragino Sans GB"/>
              </a:defRPr>
            </a:pPr>
            <a:r>
              <a:rPr sz="2100" b="1">
                <a:solidFill>
                  <a:srgbClr val="FF5A36"/>
                </a:solidFill>
                <a:latin typeface="Hiragino Sans GB"/>
                <a:ea typeface="Hiragino Sans GB"/>
                <a:cs typeface="Hiragino Sans GB"/>
              </a:rPr>
              <a:t>記録</a:t>
            </a:r>
          </a:p>
        </p:txBody>
      </p:sp>
      <p:sp>
        <p:nvSpPr>
          <p:cNvPr id="9" name="">
            <a:extLst xmlns:a="http://schemas.openxmlformats.org/drawingml/2006/main">
              <a:ext uri="{FF2B5EF4-FFF2-40B4-BE49-F238E27FC236}">
                <a16:creationId xmlns:a16="http://schemas.microsoft.com/office/drawing/2014/main" id="{984B2050-1BF5-422F-B488-9B5039AB3D8E}"/>
              </a:ext>
            </a:extLst>
          </p:cNvPr>
          <p:cNvSpPr>
            <a:spLocks xmlns:a="http://schemas.openxmlformats.org/drawingml/2006/main" noGrp="1"/>
          </p:cNvSpPr>
          <p:nvPr/>
        </p:nvSpPr>
        <p:spPr>
          <a:xfrm xmlns:a="http://schemas.openxmlformats.org/drawingml/2006/main">
            <a:off x="8305800" y="2457450"/>
            <a:ext cx="2857500" cy="38100"/>
          </a:xfrm>
          <a:prstGeom xmlns:a="http://schemas.openxmlformats.org/drawingml/2006/main" prst="rect">
            <a:avLst/>
          </a:prstGeom>
          <a:solidFill xmlns:a="http://schemas.openxmlformats.org/drawingml/2006/main">
            <a:srgbClr val="C9C6BE"/>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AA61F6E-73C1-49BA-9BAC-FB58A04679B7}"/>
              </a:ext>
            </a:extLst>
          </p:cNvPr>
          <p:cNvSpPr>
            <a:spLocks xmlns:a="http://schemas.openxmlformats.org/drawingml/2006/main" noGrp="1"/>
          </p:cNvSpPr>
          <p:nvPr/>
        </p:nvSpPr>
        <p:spPr>
          <a:xfrm xmlns:a="http://schemas.openxmlformats.org/drawingml/2006/main">
            <a:off x="8305800" y="2714625"/>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0">
                <a:solidFill>
                  <a:srgbClr val="111111"/>
                </a:solidFill>
                <a:latin typeface="Hiragino Sans GB"/>
                <a:ea typeface="Hiragino Sans GB"/>
                <a:cs typeface="Hiragino Sans GB"/>
              </a:defRPr>
            </a:pPr>
            <a:r>
              <a:rPr sz="1650" b="0">
                <a:solidFill>
                  <a:srgbClr val="111111"/>
                </a:solidFill>
                <a:latin typeface="Hiragino Sans GB"/>
                <a:ea typeface="Hiragino Sans GB"/>
                <a:cs typeface="Hiragino Sans GB"/>
              </a:rPr>
              <a:t>審査、納付、入退去を分けて保持</a:t>
            </a:r>
          </a:p>
          <a:p xmlns:a="http://schemas.openxmlformats.org/drawingml/2006/main">
            <a:pPr algn="l">
              <a:defRPr sz="1650" b="0">
                <a:solidFill>
                  <a:srgbClr val="111111"/>
                </a:solidFill>
                <a:latin typeface="Hiragino Sans GB"/>
                <a:ea typeface="Hiragino Sans GB"/>
                <a:cs typeface="Hiragino Sans GB"/>
              </a:defRPr>
            </a:pPr>
            <a:r>
              <a:rPr sz="1650" b="0">
                <a:solidFill>
                  <a:srgbClr val="111111"/>
                </a:solidFill>
                <a:latin typeface="Hiragino Sans GB"/>
                <a:ea typeface="Hiragino Sans GB"/>
                <a:cs typeface="Hiragino Sans GB"/>
              </a:rPr>
              <a:t>職員操作は監査履歴へ残す</a:t>
            </a:r>
          </a:p>
        </p:txBody>
      </p:sp>
      <p:sp>
        <p:nvSpPr>
          <p:cNvPr id="11" name="">
            <a:extLst xmlns:a="http://schemas.openxmlformats.org/drawingml/2006/main">
              <a:ext uri="{FF2B5EF4-FFF2-40B4-BE49-F238E27FC236}">
                <a16:creationId xmlns:a16="http://schemas.microsoft.com/office/drawing/2014/main" id="{9C594FAE-3344-4AE2-ACAA-C5290252AAE0}"/>
              </a:ext>
            </a:extLst>
          </p:cNvPr>
          <p:cNvSpPr>
            <a:spLocks xmlns:a="http://schemas.openxmlformats.org/drawingml/2006/main" noGrp="1"/>
          </p:cNvSpPr>
          <p:nvPr/>
        </p:nvSpPr>
        <p:spPr>
          <a:xfrm xmlns:a="http://schemas.openxmlformats.org/drawingml/2006/main">
            <a:off x="685800" y="51911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1">
                <a:solidFill>
                  <a:srgbClr val="111111"/>
                </a:solidFill>
                <a:latin typeface="Hiragino Sans GB"/>
                <a:ea typeface="Hiragino Sans GB"/>
                <a:cs typeface="Hiragino Sans GB"/>
              </a:defRPr>
            </a:pPr>
            <a:r>
              <a:rPr sz="2025" b="1">
                <a:solidFill>
                  <a:srgbClr val="111111"/>
                </a:solidFill>
                <a:latin typeface="Hiragino Sans GB"/>
                <a:ea typeface="Hiragino Sans GB"/>
                <a:cs typeface="Hiragino Sans GB"/>
              </a:rPr>
              <a:t>RLS、DBトランザクション、更新時の版照合で守る</a:t>
            </a:r>
          </a:p>
        </p:txBody>
      </p:sp>
      <p:sp>
        <p:nvSpPr>
          <p:cNvPr id="12" name="">
            <a:extLst xmlns:a="http://schemas.openxmlformats.org/drawingml/2006/main">
              <a:ext uri="{FF2B5EF4-FFF2-40B4-BE49-F238E27FC236}">
                <a16:creationId xmlns:a16="http://schemas.microsoft.com/office/drawing/2014/main" id="{E71A7AAA-7870-48AA-9861-F0615C70FF85}"/>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HIR AIZUMI SHIGYO PORTAL</a:t>
            </a:r>
          </a:p>
        </p:txBody>
      </p:sp>
      <p:sp>
        <p:nvSpPr>
          <p:cNvPr id="13" name="">
            <a:extLst xmlns:a="http://schemas.openxmlformats.org/drawingml/2006/main">
              <a:ext uri="{FF2B5EF4-FFF2-40B4-BE49-F238E27FC236}">
                <a16:creationId xmlns:a16="http://schemas.microsoft.com/office/drawing/2014/main" id="{EBECCE53-E7EB-44BC-90CA-2C37E63C4ED2}"/>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8C887F"/>
                </a:solidFill>
                <a:latin typeface="Helvetica Neue"/>
                <a:ea typeface="Helvetica Neue"/>
                <a:cs typeface="Helvetica Neue"/>
              </a:defRPr>
            </a:pPr>
            <a:r>
              <a:rPr sz="675" b="0">
                <a:solidFill>
                  <a:srgbClr val="8C887F"/>
                </a:solidFill>
                <a:latin typeface="Helvetica Neue"/>
                <a:ea typeface="Helvetica Neue"/>
                <a:cs typeface="Helvetica Neue"/>
              </a:rPr>
              <a:t>06</a:t>
            </a:r>
          </a:p>
        </p:txBody>
      </p:sp>
    </p:spTree>
    <p:extLst>
      <p:ext uri="{BB962C8B-B14F-4D97-AF65-F5344CB8AC3E}">
        <p14:creationId xmlns:p14="http://schemas.microsoft.com/office/powerpoint/2010/main" val="2083220559"/>
      </p:ext>
    </p:extLst>
  </p:cSld>
</p:sld>
</file>

<file path=ppt/slides/slide7.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516330-1EDE-464B-98B4-3DA8EBBDBE07}"/>
              </a:ext>
            </a:extLst>
          </p:cNvPr>
          <p:cNvSpPr>
            <a:spLocks xmlns:a="http://schemas.openxmlformats.org/drawingml/2006/main" noGrp="1"/>
          </p:cNvSpPr>
          <p:nvPr/>
        </p:nvSpPr>
        <p:spPr>
          <a:xfrm xmlns:a="http://schemas.openxmlformats.org/drawingml/2006/main">
            <a:off x="704850" y="666750"/>
            <a:ext cx="1057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750" b="1">
                <a:solidFill>
                  <a:srgbClr val="FFFFFF"/>
                </a:solidFill>
                <a:latin typeface="Hiragino Sans GB"/>
                <a:ea typeface="Hiragino Sans GB"/>
                <a:cs typeface="Hiragino Sans GB"/>
              </a:defRPr>
            </a:pPr>
            <a:r>
              <a:rPr sz="3750" b="1">
                <a:solidFill>
                  <a:srgbClr val="FFFFFF"/>
                </a:solidFill>
                <a:latin typeface="Hiragino Sans GB"/>
                <a:ea typeface="Hiragino Sans GB"/>
                <a:cs typeface="Hiragino Sans GB"/>
              </a:rPr>
              <a:t>mainには、ここまで入った。</a:t>
            </a:r>
          </a:p>
        </p:txBody>
      </p:sp>
      <p:sp>
        <p:nvSpPr>
          <p:cNvPr id="2" name="">
            <a:extLst xmlns:a="http://schemas.openxmlformats.org/drawingml/2006/main">
              <a:ext uri="{FF2B5EF4-FFF2-40B4-BE49-F238E27FC236}">
                <a16:creationId xmlns:a16="http://schemas.microsoft.com/office/drawing/2014/main" id="{908E1CC4-0159-4956-83AB-08D81D2131C6}"/>
              </a:ext>
            </a:extLst>
          </p:cNvPr>
          <p:cNvSpPr>
            <a:spLocks xmlns:a="http://schemas.openxmlformats.org/drawingml/2006/main" noGrp="1"/>
          </p:cNvSpPr>
          <p:nvPr/>
        </p:nvSpPr>
        <p:spPr>
          <a:xfrm xmlns:a="http://schemas.openxmlformats.org/drawingml/2006/main">
            <a:off x="704850" y="15240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600" b="1">
                <a:solidFill>
                  <a:srgbClr val="FF5A36"/>
                </a:solidFill>
                <a:latin typeface="Hiragino Sans GB"/>
                <a:ea typeface="Hiragino Sans GB"/>
                <a:cs typeface="Hiragino Sans GB"/>
              </a:defRPr>
            </a:pPr>
            <a:r>
              <a:rPr sz="3600" b="1">
                <a:solidFill>
                  <a:srgbClr val="FF5A36"/>
                </a:solidFill>
                <a:latin typeface="Hiragino Sans GB"/>
                <a:ea typeface="Hiragino Sans GB"/>
                <a:cs typeface="Hiragino Sans GB"/>
              </a:rPr>
              <a:t>本番のPDF生成は、まだ有効にしない。</a:t>
            </a:r>
          </a:p>
        </p:txBody>
      </p:sp>
      <p:sp>
        <p:nvSpPr>
          <p:cNvPr id="3" name="">
            <a:extLst xmlns:a="http://schemas.openxmlformats.org/drawingml/2006/main">
              <a:ext uri="{FF2B5EF4-FFF2-40B4-BE49-F238E27FC236}">
                <a16:creationId xmlns:a16="http://schemas.microsoft.com/office/drawing/2014/main" id="{4F8D47B7-534A-4099-872B-0809A207583D}"/>
              </a:ext>
            </a:extLst>
          </p:cNvPr>
          <p:cNvSpPr>
            <a:spLocks xmlns:a="http://schemas.openxmlformats.org/drawingml/2006/main" noGrp="1"/>
          </p:cNvSpPr>
          <p:nvPr/>
        </p:nvSpPr>
        <p:spPr>
          <a:xfrm xmlns:a="http://schemas.openxmlformats.org/drawingml/2006/main">
            <a:off x="742950" y="2952750"/>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AAA9A4"/>
                </a:solidFill>
                <a:latin typeface="Hiragino Sans GB"/>
                <a:ea typeface="Hiragino Sans GB"/>
                <a:cs typeface="Hiragino Sans GB"/>
              </a:defRPr>
            </a:pPr>
            <a:r>
              <a:rPr sz="1500" b="1">
                <a:solidFill>
                  <a:srgbClr val="AAA9A4"/>
                </a:solidFill>
                <a:latin typeface="Hiragino Sans GB"/>
                <a:ea typeface="Hiragino Sans GB"/>
                <a:cs typeface="Hiragino Sans GB"/>
              </a:rPr>
              <a:t>mainへ統合済み</a:t>
            </a:r>
          </a:p>
        </p:txBody>
      </p:sp>
      <p:sp>
        <p:nvSpPr>
          <p:cNvPr id="4" name="">
            <a:extLst xmlns:a="http://schemas.openxmlformats.org/drawingml/2006/main">
              <a:ext uri="{FF2B5EF4-FFF2-40B4-BE49-F238E27FC236}">
                <a16:creationId xmlns:a16="http://schemas.microsoft.com/office/drawing/2014/main" id="{5D53DA85-1687-413A-9949-C3315C8AE0D3}"/>
              </a:ext>
            </a:extLst>
          </p:cNvPr>
          <p:cNvSpPr>
            <a:spLocks xmlns:a="http://schemas.openxmlformats.org/drawingml/2006/main" noGrp="1"/>
          </p:cNvSpPr>
          <p:nvPr/>
        </p:nvSpPr>
        <p:spPr>
          <a:xfrm xmlns:a="http://schemas.openxmlformats.org/drawingml/2006/main">
            <a:off x="742950" y="3381375"/>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0">
                <a:solidFill>
                  <a:srgbClr val="FFFFFF"/>
                </a:solidFill>
                <a:latin typeface="Hiragino Sans GB"/>
                <a:ea typeface="Hiragino Sans GB"/>
                <a:cs typeface="Hiragino Sans GB"/>
              </a:defRPr>
            </a:pPr>
            <a:r>
              <a:rPr sz="1725" b="0">
                <a:solidFill>
                  <a:srgbClr val="FFFFFF"/>
                </a:solidFill>
                <a:latin typeface="Hiragino Sans GB"/>
                <a:ea typeface="Hiragino Sans GB"/>
                <a:cs typeface="Hiragino Sans GB"/>
              </a:rPr>
              <a:t>A3 部屋案　A9 確認提出　A10 再審査　A11 配置表PDF　A12 総合受入</a:t>
            </a:r>
          </a:p>
        </p:txBody>
      </p:sp>
      <p:sp>
        <p:nvSpPr>
          <p:cNvPr id="5" name="">
            <a:extLst xmlns:a="http://schemas.openxmlformats.org/drawingml/2006/main">
              <a:ext uri="{FF2B5EF4-FFF2-40B4-BE49-F238E27FC236}">
                <a16:creationId xmlns:a16="http://schemas.microsoft.com/office/drawing/2014/main" id="{170AFA14-6155-4C40-BCDE-434AF002566D}"/>
              </a:ext>
            </a:extLst>
          </p:cNvPr>
          <p:cNvSpPr>
            <a:spLocks xmlns:a="http://schemas.openxmlformats.org/drawingml/2006/main" noGrp="1"/>
          </p:cNvSpPr>
          <p:nvPr/>
        </p:nvSpPr>
        <p:spPr>
          <a:xfrm xmlns:a="http://schemas.openxmlformats.org/drawingml/2006/main">
            <a:off x="742950" y="414337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AAA9A4"/>
                </a:solidFill>
                <a:latin typeface="Hiragino Sans GB"/>
                <a:ea typeface="Hiragino Sans GB"/>
                <a:cs typeface="Hiragino Sans GB"/>
              </a:defRPr>
            </a:pPr>
            <a:r>
              <a:rPr sz="1500" b="1">
                <a:solidFill>
                  <a:srgbClr val="AAA9A4"/>
                </a:solidFill>
                <a:latin typeface="Hiragino Sans GB"/>
                <a:ea typeface="Hiragino Sans GB"/>
                <a:cs typeface="Hiragino Sans GB"/>
              </a:rPr>
              <a:t>既知の制限</a:t>
            </a:r>
          </a:p>
        </p:txBody>
      </p:sp>
      <p:sp>
        <p:nvSpPr>
          <p:cNvPr id="6" name="">
            <a:extLst xmlns:a="http://schemas.openxmlformats.org/drawingml/2006/main">
              <a:ext uri="{FF2B5EF4-FFF2-40B4-BE49-F238E27FC236}">
                <a16:creationId xmlns:a16="http://schemas.microsoft.com/office/drawing/2014/main" id="{006C27E2-ACAC-4352-99B1-00316F403B57}"/>
              </a:ext>
            </a:extLst>
          </p:cNvPr>
          <p:cNvSpPr>
            <a:spLocks xmlns:a="http://schemas.openxmlformats.org/drawingml/2006/main" noGrp="1"/>
          </p:cNvSpPr>
          <p:nvPr/>
        </p:nvSpPr>
        <p:spPr>
          <a:xfrm xmlns:a="http://schemas.openxmlformats.org/drawingml/2006/main">
            <a:off x="742950" y="4572000"/>
            <a:ext cx="990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75" b="0">
                <a:solidFill>
                  <a:srgbClr val="FFFFFF"/>
                </a:solidFill>
                <a:latin typeface="Hiragino Sans GB"/>
                <a:ea typeface="Hiragino Sans GB"/>
                <a:cs typeface="Hiragino Sans GB"/>
              </a:defRPr>
            </a:pPr>
            <a:r>
              <a:rPr sz="1875" b="0">
                <a:solidFill>
                  <a:srgbClr val="FFFFFF"/>
                </a:solidFill>
                <a:latin typeface="Hiragino Sans GB"/>
                <a:ea typeface="Hiragino Sans GB"/>
                <a:cs typeface="Hiragino Sans GB"/>
              </a:rPr>
              <a:t>常設Linux実行先なし　PDF生成active設定 0</a:t>
            </a:r>
          </a:p>
        </p:txBody>
      </p:sp>
      <p:sp>
        <p:nvSpPr>
          <p:cNvPr id="7" name="">
            <a:extLst xmlns:a="http://schemas.openxmlformats.org/drawingml/2006/main">
              <a:ext uri="{FF2B5EF4-FFF2-40B4-BE49-F238E27FC236}">
                <a16:creationId xmlns:a16="http://schemas.microsoft.com/office/drawing/2014/main" id="{0E467C6C-AA9C-40AD-9126-5FBDAC090C7A}"/>
              </a:ext>
            </a:extLst>
          </p:cNvPr>
          <p:cNvSpPr>
            <a:spLocks xmlns:a="http://schemas.openxmlformats.org/drawingml/2006/main" noGrp="1"/>
          </p:cNvSpPr>
          <p:nvPr/>
        </p:nvSpPr>
        <p:spPr>
          <a:xfrm xmlns:a="http://schemas.openxmlformats.org/drawingml/2006/main">
            <a:off x="742950" y="54578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250" b="1">
                <a:solidFill>
                  <a:srgbClr val="FF5A36"/>
                </a:solidFill>
                <a:latin typeface="Hiragino Sans GB"/>
                <a:ea typeface="Hiragino Sans GB"/>
                <a:cs typeface="Hiragino Sans GB"/>
              </a:defRPr>
            </a:pPr>
            <a:r>
              <a:rPr sz="2250" b="1">
                <a:solidFill>
                  <a:srgbClr val="FF5A36"/>
                </a:solidFill>
                <a:latin typeface="Hiragino Sans GB"/>
                <a:ea typeface="Hiragino Sans GB"/>
                <a:cs typeface="Hiragino Sans GB"/>
              </a:rPr>
              <a:t>平泉で始める、その一歩を、手続きで止めない。</a:t>
            </a:r>
          </a:p>
        </p:txBody>
      </p:sp>
      <p:sp>
        <p:nvSpPr>
          <p:cNvPr id="8" name="">
            <a:extLst xmlns:a="http://schemas.openxmlformats.org/drawingml/2006/main">
              <a:ext uri="{FF2B5EF4-FFF2-40B4-BE49-F238E27FC236}">
                <a16:creationId xmlns:a16="http://schemas.microsoft.com/office/drawing/2014/main" id="{87C22202-E29F-4C86-914E-41FE2F211345}"/>
              </a:ext>
            </a:extLst>
          </p:cNvPr>
          <p:cNvSpPr>
            <a:spLocks xmlns:a="http://schemas.openxmlformats.org/drawingml/2006/main" noGrp="1"/>
          </p:cNvSpPr>
          <p:nvPr/>
        </p:nvSpPr>
        <p:spPr>
          <a:xfrm xmlns:a="http://schemas.openxmlformats.org/drawingml/2006/main">
            <a:off x="685800" y="6096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00" b="0">
                <a:solidFill>
                  <a:srgbClr val="9C9C97"/>
                </a:solidFill>
                <a:latin typeface="Hiragino Sans GB"/>
                <a:ea typeface="Hiragino Sans GB"/>
                <a:cs typeface="Hiragino Sans GB"/>
              </a:defRPr>
            </a:pPr>
            <a:r>
              <a:rPr sz="900" b="0">
                <a:solidFill>
                  <a:srgbClr val="9C9C97"/>
                </a:solidFill>
                <a:latin typeface="Hiragino Sans GB"/>
                <a:ea typeface="Hiragino Sans GB"/>
                <a:cs typeface="Hiragino Sans GB"/>
              </a:rPr>
              <a:t>自主制作の試作版です。平泉町公式サービスではありません。</a:t>
            </a:r>
          </a:p>
        </p:txBody>
      </p:sp>
      <p:sp>
        <p:nvSpPr>
          <p:cNvPr id="9" name="">
            <a:extLst xmlns:a="http://schemas.openxmlformats.org/drawingml/2006/main">
              <a:ext uri="{FF2B5EF4-FFF2-40B4-BE49-F238E27FC236}">
                <a16:creationId xmlns:a16="http://schemas.microsoft.com/office/drawing/2014/main" id="{D599A4A8-20C6-4235-B66B-E92091A0E433}"/>
              </a:ext>
            </a:extLst>
          </p:cNvPr>
          <p:cNvSpPr>
            <a:spLocks xmlns:a="http://schemas.openxmlformats.org/drawingml/2006/main" noGrp="1"/>
          </p:cNvSpPr>
          <p:nvPr/>
        </p:nvSpPr>
        <p:spPr>
          <a:xfrm xmlns:a="http://schemas.openxmlformats.org/drawingml/2006/main">
            <a:off x="400050" y="642937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l">
              <a:defRPr sz="675" b="0">
                <a:solidFill>
                  <a:srgbClr val="777772"/>
                </a:solidFill>
                <a:latin typeface="Helvetica Neue"/>
                <a:ea typeface="Helvetica Neue"/>
                <a:cs typeface="Helvetica Neue"/>
              </a:defRPr>
            </a:pPr>
            <a:r>
              <a:rPr sz="675" b="0">
                <a:solidFill>
                  <a:srgbClr val="777772"/>
                </a:solidFill>
                <a:latin typeface="Helvetica Neue"/>
                <a:ea typeface="Helvetica Neue"/>
                <a:cs typeface="Helvetica Neue"/>
              </a:rPr>
              <a:t>HIR AIZUMI SHIGYO PORTAL</a:t>
            </a:r>
          </a:p>
        </p:txBody>
      </p:sp>
      <p:sp>
        <p:nvSpPr>
          <p:cNvPr id="10" name="">
            <a:extLst xmlns:a="http://schemas.openxmlformats.org/drawingml/2006/main">
              <a:ext uri="{FF2B5EF4-FFF2-40B4-BE49-F238E27FC236}">
                <a16:creationId xmlns:a16="http://schemas.microsoft.com/office/drawing/2014/main" id="{EB498FED-07A5-429C-92ED-34CA10D10274}"/>
              </a:ext>
            </a:extLst>
          </p:cNvPr>
          <p:cNvSpPr>
            <a:spLocks xmlns:a="http://schemas.openxmlformats.org/drawingml/2006/main" noGrp="1"/>
          </p:cNvSpPr>
          <p:nvPr/>
        </p:nvSpPr>
        <p:spPr>
          <a:xfrm xmlns:a="http://schemas.openxmlformats.org/drawingml/2006/main">
            <a:off x="11334750" y="6429375"/>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96"/>
          </a:bodyPr>
          <a:lstStyle xmlns:a="http://schemas.openxmlformats.org/drawingml/2006/main"/>
          <a:p xmlns:a="http://schemas.openxmlformats.org/drawingml/2006/main">
            <a:pPr algn="r">
              <a:defRPr sz="675" b="0">
                <a:solidFill>
                  <a:srgbClr val="777772"/>
                </a:solidFill>
                <a:latin typeface="Helvetica Neue"/>
                <a:ea typeface="Helvetica Neue"/>
                <a:cs typeface="Helvetica Neue"/>
              </a:defRPr>
            </a:pPr>
            <a:r>
              <a:rPr sz="675" b="0">
                <a:solidFill>
                  <a:srgbClr val="777772"/>
                </a:solidFill>
                <a:latin typeface="Helvetica Neue"/>
                <a:ea typeface="Helvetica Neue"/>
                <a:cs typeface="Helvetica Neue"/>
              </a:rPr>
              <a:t>07</a:t>
            </a:r>
          </a:p>
        </p:txBody>
      </p:sp>
    </p:spTree>
    <p:extLst>
      <p:ext uri="{BB962C8B-B14F-4D97-AF65-F5344CB8AC3E}">
        <p14:creationId xmlns:p14="http://schemas.microsoft.com/office/powerpoint/2010/main" val="11464069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2026-09-12T18:57:17.1580000Z</dcterms:created>
  <dcterms:modified xsi:type="dcterms:W3CDTF">2026-09-12T18:57:17.1580000Z</dcterms:modified>
</coreProperties>
</file>