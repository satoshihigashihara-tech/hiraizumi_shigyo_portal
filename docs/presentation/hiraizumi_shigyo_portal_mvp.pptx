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6c160040714d45" /><Relationship Type="http://schemas.openxmlformats.org/officeDocument/2006/relationships/extended-properties" Target="/docProps/app.xml" Id="R31a986742f71419f" /><Relationship Type="http://schemas.openxmlformats.org/officeDocument/2006/relationships/officeDocument" Target="/ppt/presentation.xml" Id="R1f0efbd4890948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3a73bef92a4200"/>
  </p:sldMasterIdLst>
  <p:notesMasterIdLst>
    <p:notesMasterId xmlns:r="http://schemas.openxmlformats.org/officeDocument/2006/relationships" r:id="R9c2fb8ff69de4a5e"/>
  </p:notesMasterIdLst>
  <p:sldIdLst>
    <p:sldId xmlns:r="http://schemas.openxmlformats.org/officeDocument/2006/relationships" id="256" r:id="Ra944065407644e44"/>
    <p:sldId xmlns:r="http://schemas.openxmlformats.org/officeDocument/2006/relationships" id="257" r:id="Ra18f1a2fc2734827"/>
    <p:sldId xmlns:r="http://schemas.openxmlformats.org/officeDocument/2006/relationships" id="258" r:id="Rbe888a9c393249b7"/>
    <p:sldId xmlns:r="http://schemas.openxmlformats.org/officeDocument/2006/relationships" id="259" r:id="R924de429016646fa"/>
    <p:sldId xmlns:r="http://schemas.openxmlformats.org/officeDocument/2006/relationships" id="260" r:id="R0e21f23199004170"/>
    <p:sldId xmlns:r="http://schemas.openxmlformats.org/officeDocument/2006/relationships" id="261" r:id="R407fa649de3b4a43"/>
    <p:sldId xmlns:r="http://schemas.openxmlformats.org/officeDocument/2006/relationships" id="262" r:id="R4d8bc30573ee40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22ba7af556414c" /><Relationship Type="http://schemas.openxmlformats.org/officeDocument/2006/relationships/slideMaster" Target="/ppt/slideMasters/slideMaster1.xml" Id="R683a73bef92a4200" /><Relationship Type="http://schemas.openxmlformats.org/officeDocument/2006/relationships/notesMaster" Target="/ppt/notesMasters/notesMaster1.xml" Id="R9c2fb8ff69de4a5e" /><Relationship Type="http://schemas.openxmlformats.org/officeDocument/2006/relationships/presProps" Target="/ppt/presProps.xml" Id="Reb0db3290ed146db" /><Relationship Type="http://schemas.openxmlformats.org/officeDocument/2006/relationships/tableStyles" Target="/ppt/tableStyles.xml" Id="R912488feac2f46df" /><Relationship Type="http://schemas.openxmlformats.org/officeDocument/2006/relationships/slide" Target="/ppt/slides/slide1.xml" Id="Ra944065407644e44" /><Relationship Type="http://schemas.openxmlformats.org/officeDocument/2006/relationships/slide" Target="/ppt/slides/slide2.xml" Id="Ra18f1a2fc2734827" /><Relationship Type="http://schemas.openxmlformats.org/officeDocument/2006/relationships/slide" Target="/ppt/slides/slide3.xml" Id="Rbe888a9c393249b7" /><Relationship Type="http://schemas.openxmlformats.org/officeDocument/2006/relationships/slide" Target="/ppt/slides/slide4.xml" Id="R924de429016646fa" /><Relationship Type="http://schemas.openxmlformats.org/officeDocument/2006/relationships/slide" Target="/ppt/slides/slide5.xml" Id="R0e21f23199004170" /><Relationship Type="http://schemas.openxmlformats.org/officeDocument/2006/relationships/slide" Target="/ppt/slides/slide6.xml" Id="R407fa649de3b4a43" /><Relationship Type="http://schemas.openxmlformats.org/officeDocument/2006/relationships/slide" Target="/ppt/slides/slide7.xml" Id="R4d8bc30573ee40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22fde4e52d45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24918804bd4af5" /><Relationship Type="http://schemas.openxmlformats.org/officeDocument/2006/relationships/notesMaster" Target="/ppt/notesMasters/notesMaster1.xml" Id="Rb655d52127e645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c48f80936d4f66" /><Relationship Type="http://schemas.openxmlformats.org/officeDocument/2006/relationships/notesMaster" Target="/ppt/notesMasters/notesMaster1.xml" Id="R405c06f2c80440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ee3994f25c43b8" /><Relationship Type="http://schemas.openxmlformats.org/officeDocument/2006/relationships/notesMaster" Target="/ppt/notesMasters/notesMaster1.xml" Id="R37fcee5bb8b446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97f89279fe4632" /><Relationship Type="http://schemas.openxmlformats.org/officeDocument/2006/relationships/notesMaster" Target="/ppt/notesMasters/notesMaster1.xml" Id="R4d66aecee7cc42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15285e6535413d" /><Relationship Type="http://schemas.openxmlformats.org/officeDocument/2006/relationships/notesMaster" Target="/ppt/notesMasters/notesMaster1.xml" Id="R8099128944464e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4de30610434614" /><Relationship Type="http://schemas.openxmlformats.org/officeDocument/2006/relationships/notesMaster" Target="/ppt/notesMasters/notesMaster1.xml" Id="R6202796bb50f47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a426303fc84d3b" /><Relationship Type="http://schemas.openxmlformats.org/officeDocument/2006/relationships/notesMaster" Target="/ppt/notesMasters/notesMaster1.xml" Id="Rf419e0d4308548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【0:00〜0:08】</a:t>
            </a:r>
          </a:p>
          <a:p xmlns:a="http://schemas.openxmlformats.org/drawingml/2006/main">
            <a:r>
              <a:t>申請書はWord。スマホでの記入が、最初の壁でした。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参照: docs/presentation/presenter_runbook.md / docs/routes.md / docs/a12-integrated-acceptance.md / Issue #79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【0:08〜0:28】</a:t>
            </a:r>
          </a:p>
          <a:p xmlns:a="http://schemas.openxmlformats.org/drawingml/2006/main">
            <a:r>
              <a:t>Wordで記入し、メールで提出。職員は紙で許可し、Excelで料金を管理します。一つの申請が四か所に分かれるため、転記や状況確認に手間がかかります。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参照: docs/presentation/presenter_runbook.md / docs/routes.md / docs/a12-integrated-acceptance.md / Issue #79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【0:28〜0:48】</a:t>
            </a:r>
          </a:p>
          <a:p xmlns:a="http://schemas.openxmlformats.org/drawingml/2006/main">
            <a:r>
              <a:t>そこで作ったのが、ひらいずみ志業ポータルです。利用者と職員が同じ申請を見ながら、審査、部屋、料金、入退去を確認します。自主制作の試作版です。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参照: docs/presentation/presenter_runbook.md / docs/routes.md / docs/a12-integrated-acceptance.md / Issue #79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【0:48〜1:00】</a:t>
            </a:r>
          </a:p>
          <a:p xmlns:a="http://schemas.openxmlformats.org/drawingml/2006/main">
            <a:r>
              <a:t>コードとDBは反映済みです。公開画面から流れをご覧ください。本番のPDF生成は停止中です。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参照: docs/presentation/presenter_runbook.md / docs/routes.md / docs/a12-integrated-acceptance.md / Issue #79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【1:00〜4:00 デモ】</a:t>
            </a:r>
          </a:p>
          <a:p xmlns:a="http://schemas.openxmlformats.org/drawingml/2006/main">
            <a:r>
              <a:t>0:00 公開カレンダー。</a:t>
            </a:r>
          </a:p>
          <a:p xmlns:a="http://schemas.openxmlformats.org/drawingml/2006/main">
            <a:r>
              <a:t>0:30 利用者の申請状況。</a:t>
            </a:r>
          </a:p>
          <a:p xmlns:a="http://schemas.openxmlformats.org/drawingml/2006/main">
            <a:r>
              <a:t>1:10 本人の部屋と職員の部屋案。</a:t>
            </a:r>
          </a:p>
          <a:p xmlns:a="http://schemas.openxmlformats.org/drawingml/2006/main">
            <a:r>
              <a:t>1:50 職員の申請詳細。</a:t>
            </a:r>
          </a:p>
          <a:p xmlns:a="http://schemas.openxmlformats.org/drawingml/2006/main">
            <a:r>
              <a:t>2:40 まとめてスライド6へ。</a:t>
            </a:r>
          </a:p>
          <a:p xmlns:a="http://schemas.openxmlformats.org/drawingml/2006/main">
            <a:r>
              <a:t>準備済みの架空データと職員セッションがない場合は、認証画面の説明をSTATIC FALLBACK資料へ切り替え、本番画面とは説明しない。通信待ちが8秒を超えたら「ここからは、同じ流れを事前に用意した資料でご覧ください」と言い、fallback_demo.pdfへ切り替える。</a:t>
            </a:r>
          </a:p>
          <a:p xmlns:a="http://schemas.openxmlformats.org/drawingml/2006/main">
            <a:r>
              <a:t>発表中は保存・提出・審査・納付を実行しない。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参照: docs/presentation/presenter_runbook.md / docs/routes.md / docs/a12-integrated-acceptance.md / Issue #79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【4:00〜4:35】</a:t>
            </a:r>
          </a:p>
          <a:p xmlns:a="http://schemas.openxmlformats.org/drawingml/2006/main">
            <a:r>
              <a:t>利用者が見られるのは本人の申請です。職員操作もサーバーとDBで権限を確認します。施設と部屋の定員を同時操作でも守り、審査、納付、入退去を分けて記録します。画面だけでなく、データの整合性にも取り組み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参照: docs/presentation/presenter_runbook.md / docs/routes.md / docs/a12-integrated-acceptance.md / Issue #79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【4:35〜5:00】</a:t>
            </a:r>
          </a:p>
          <a:p xmlns:a="http://schemas.openxmlformats.org/drawingml/2006/main">
            <a:r>
              <a:t>PDFは常設の変換先がないため、本番生成を停止しています。同意書アップロードはMVP対象外です。平泉で始める、その一歩を、手続きで止めない。これが、ひらいずみ志業ポータルです。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参照: docs/presentation/presenter_runbook.md / docs/routes.md / docs/a12-integrated-acceptance.md / Issue #79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cc5dd941204e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85c4af491a4d52" /><Relationship Type="http://schemas.openxmlformats.org/officeDocument/2006/relationships/slideLayout" Target="/ppt/slideLayouts/slideLayout1.xml" Id="R95cf964561a540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cf964561a540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f7f22f6874b3e" /><Relationship Type="http://schemas.openxmlformats.org/officeDocument/2006/relationships/notesSlide" Target="/ppt/notesSlides/notesSlide1.xml" Id="R254aadd7d8244e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459bfe05e47ed" /><Relationship Type="http://schemas.openxmlformats.org/officeDocument/2006/relationships/notesSlide" Target="/ppt/notesSlides/notesSlide2.xml" Id="R314ae84ae7bf49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c495085ae4097" /><Relationship Type="http://schemas.openxmlformats.org/officeDocument/2006/relationships/notesSlide" Target="/ppt/notesSlides/notesSlide3.xml" Id="R00119a5b6a824c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59181b5074e7a" /><Relationship Type="http://schemas.openxmlformats.org/officeDocument/2006/relationships/notesSlide" Target="/ppt/notesSlides/notesSlide4.xml" Id="R9c0d191ac8b44a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fbbfae8b246c4" /><Relationship Type="http://schemas.openxmlformats.org/officeDocument/2006/relationships/notesSlide" Target="/ppt/notesSlides/notesSlide5.xml" Id="R677fbdeb239a4b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aa43dd7c84807" /><Relationship Type="http://schemas.openxmlformats.org/officeDocument/2006/relationships/notesSlide" Target="/ppt/notesSlides/notesSlide6.xml" Id="R359768cb210a47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e720dff2d43f0" /><Relationship Type="http://schemas.openxmlformats.org/officeDocument/2006/relationships/notesSlide" Target="/ppt/notesSlides/notesSlide7.xml" Id="R9652b5edb53843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A2B83-4F6A-4AB8-9814-A281D9CE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28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50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申請書は、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EDC1B-D3E8-4F6E-A440-39E74218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600" b="1">
                <a:solidFill>
                  <a:srgbClr val="FF5A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600" b="1">
                <a:solidFill>
                  <a:srgbClr val="FF5A36"/>
                </a:solidFill>
                <a:latin typeface="Hiragino Sans GB"/>
                <a:ea typeface="Hiragino Sans GB"/>
                <a:cs typeface="Hiragino Sans GB"/>
              </a:rPr>
              <a:t>Wordでした。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18083-9435-47A5-9EAD-BE2C8170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77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77736B"/>
                </a:solidFill>
                <a:latin typeface="Hiragino Sans GB"/>
                <a:ea typeface="Hiragino Sans GB"/>
                <a:cs typeface="Hiragino Sans GB"/>
              </a:rPr>
              <a:t>平泉町志業シェアハウスの利用申請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AE69F-C93C-4005-A807-EBA296B4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7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77736B"/>
                </a:solidFill>
                <a:latin typeface="Hiragino Sans GB"/>
                <a:ea typeface="Hiragino Sans GB"/>
                <a:cs typeface="Hiragino Sans GB"/>
              </a:rPr>
              <a:t>自主制作の試作版です。平泉町公式サービスではありません。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EDEEC-DA6C-49AB-BC6E-BE1B7B74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8C88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8C887F"/>
                </a:solidFill>
                <a:latin typeface="Helvetica Neue"/>
                <a:ea typeface="Helvetica Neue"/>
                <a:cs typeface="Helvetica Neue"/>
              </a:rPr>
              <a:t>HIR AIZUMI SHIGYO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6E5A2-E44C-40E4-BBC6-193F81B5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8C88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8C887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3539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3A0A2-8EB9-49B0-A46A-8D098610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50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申請はひとつ。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50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管理は4か所。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7D889-BA1E-4A15-B87F-5306E657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WORD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21305-7E00-408C-9530-35E15646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2209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50BA9-FB7C-43CC-A4E6-F41FEEC6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5A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D5A54"/>
                </a:solidFill>
                <a:latin typeface="Hiragino Sans GB"/>
                <a:ea typeface="Hiragino Sans GB"/>
                <a:cs typeface="Hiragino Sans GB"/>
              </a:rPr>
              <a:t>記入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98BC3-C49D-4574-9F24-E63B1621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0443F-60E7-4C5E-9A2E-1DF94873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9550"/>
            <a:ext cx="2209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1A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48522-4B8B-409A-8D0A-575CAE4C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100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5A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D5A54"/>
                </a:solidFill>
                <a:latin typeface="Hiragino Sans GB"/>
                <a:ea typeface="Hiragino Sans GB"/>
                <a:cs typeface="Hiragino Sans GB"/>
              </a:rPr>
              <a:t>提出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76C41-493B-409E-89FB-BF124D9F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34A94-AD6C-4035-85FE-993CF93A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2209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1A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6A5E5-91F7-4CB0-8B8F-1FEB2927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5A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D5A54"/>
                </a:solidFill>
                <a:latin typeface="Hiragino Sans GB"/>
                <a:ea typeface="Hiragino Sans GB"/>
                <a:cs typeface="Hiragino Sans GB"/>
              </a:rPr>
              <a:t>許可通知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CC7D8-E7B3-4587-9B68-86B117CE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337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EXCEL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FB5D6-C986-4F57-9EBB-16C98C85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19550"/>
            <a:ext cx="2209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1A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714C4-CFCE-46DB-A66A-14C19A26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100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5A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D5A54"/>
                </a:solidFill>
                <a:latin typeface="Hiragino Sans GB"/>
                <a:ea typeface="Hiragino Sans GB"/>
                <a:cs typeface="Hiragino Sans GB"/>
              </a:rPr>
              <a:t>料金管理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42708-97C6-4CEB-9583-7ED0FF60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見落とし、転記、状況確認の手間が生まれる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3028D-C4EA-4BAA-8069-9D4AF335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8C88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8C887F"/>
                </a:solidFill>
                <a:latin typeface="Helvetica Neue"/>
                <a:ea typeface="Helvetica Neue"/>
                <a:cs typeface="Helvetica Neue"/>
              </a:rPr>
              <a:t>HIR AIZUMI SHIGYO PORTAL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8767C-BB6D-4F5A-96DD-B3123671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8C88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8C887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68615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7965E-9438-47B8-81B5-5B56D742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AA9A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AAA9A4"/>
                </a:solidFill>
                <a:latin typeface="Hiragino Sans GB"/>
                <a:ea typeface="Hiragino Sans GB"/>
                <a:cs typeface="Hiragino Sans GB"/>
              </a:rPr>
              <a:t>その答えとして制作したのが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6389F-CAD9-4838-8DBC-E304EF51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ひらいずみ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志業ポータル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F005B-F1CB-4699-948A-3CC3268D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C7B7E-2F86-471B-9DAF-E216699A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5A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F5A36"/>
                </a:solidFill>
                <a:latin typeface="Hiragino Sans GB"/>
                <a:ea typeface="Hiragino Sans GB"/>
                <a:cs typeface="Hiragino Sans GB"/>
              </a:rPr>
              <a:t>申請から許可、部屋、料金、入退去までを一元管理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8E8DD-8FA6-4F42-95A6-12BD9E05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9C9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C9C97"/>
                </a:solidFill>
                <a:latin typeface="Helvetica Neue"/>
                <a:ea typeface="Helvetica Neue"/>
                <a:cs typeface="Helvetica Neue"/>
              </a:rPr>
              <a:t>Next.js  /  React  /  Supabase  /  Vercel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F8B9A-2246-4AFE-8832-C16AB708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C9C9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9C9C97"/>
                </a:solidFill>
                <a:latin typeface="Hiragino Sans GB"/>
                <a:ea typeface="Hiragino Sans GB"/>
                <a:cs typeface="Hiragino Sans GB"/>
              </a:rPr>
              <a:t>自主制作の試作版です。平泉町公式サービスではありません。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C2818-0C26-4D34-B25C-A3E8CB4E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7777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77772"/>
                </a:solidFill>
                <a:latin typeface="Helvetica Neue"/>
                <a:ea typeface="Helvetica Neue"/>
                <a:cs typeface="Helvetica Neue"/>
              </a:rPr>
              <a:t>HIR AIZUMI SHIGYO PORTAL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F8B9F-C290-493B-878C-2DD357A5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7777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777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642691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461DF-A757-4B75-87F6-BD04C89F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現在のmainで確認できること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24523-60C7-46DC-9BB0-5A488DDB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5A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FF5A36"/>
                </a:solidFill>
                <a:latin typeface="Hiragino Sans GB"/>
                <a:ea typeface="Hiragino Sans GB"/>
                <a:cs typeface="Hiragino Sans GB"/>
              </a:rPr>
              <a:t>利用者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A1861-D84D-4485-8968-8048F6AC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4191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公開カレンダー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キャンプ申請とPDF確認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自分の部屋を確認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大学・学生団体の申請と参加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48DDB-C7B0-49F1-8909-78B4ADEE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C73B7-C9F1-4C84-8641-CE395510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職員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23477-CF40-4C9C-BF4F-E497BDC7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572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申請の検索と審査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対象者名簿と事前部屋案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職員限定の配置表PDF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料金・納付・入退去の管理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85F92-8E0E-453B-A4D3-EC8C57C4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197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F69A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F69A7"/>
                </a:solidFill>
                <a:latin typeface="Hiragino Sans GB"/>
                <a:ea typeface="Hiragino Sans GB"/>
                <a:cs typeface="Hiragino Sans GB"/>
              </a:rPr>
              <a:t>公開本番と、mainへ統合済みの機能を区別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4D7FF-5A1D-4CCE-87A1-27253BE0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8C88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8C887F"/>
                </a:solidFill>
                <a:latin typeface="Helvetica Neue"/>
                <a:ea typeface="Helvetica Neue"/>
                <a:cs typeface="Helvetica Neue"/>
              </a:rPr>
              <a:t>HIR AIZUMI SHIGYO PORTAL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CDF77-9AAF-4DAD-80FA-88001142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8C88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8C887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161550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A4906-226A-4E5C-B62F-EAD3D49E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443"/>
          </a:bodyPr>
          <a:lstStyle xmlns:a="http://schemas.openxmlformats.org/drawingml/2006/main"/>
          <a:p xmlns:a="http://schemas.openxmlformats.org/drawingml/2006/main">
            <a:pPr algn="l">
              <a:buNone/>
              <a:defRPr sz="4575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FF5A36"/>
                </a:solidFill>
                <a:latin typeface="Helvetica Neue"/>
                <a:ea typeface="Helvetica Neue"/>
                <a:cs typeface="Helvetica Neue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2FF51-B273-411B-BEFF-D41BCA97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申請が、許可に変わるまで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92B8E-DA47-4035-8D64-F55A857F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7185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F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96451-6979-4CD4-B05C-735B71DA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723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A515A-EFCE-4B68-B93D-78F6BB9C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813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A21D6-3A05-4735-95CD-A47DBD76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48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空き状況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19168-BCCD-4B64-A756-E933259A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28950"/>
            <a:ext cx="723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C5C16-5139-4611-8A5D-B4B9440A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813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3EE68-402B-4C6C-9DAE-67CF2A59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48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申請状況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AA373-C0A4-439D-93F1-73B4848D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28950"/>
            <a:ext cx="723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443EB-BB98-4C8E-B574-4AC189C6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813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6CEA6-A751-4266-8659-B4B2B613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48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自分の部屋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32ABC-4A48-4733-AFD2-031AA71D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28950"/>
            <a:ext cx="723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E26EC-016B-43EE-A51F-8681989A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813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E145E0-6E05-4FE8-A1AE-1D59E9D6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48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5A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5A36"/>
                </a:solidFill>
                <a:latin typeface="Hiragino Sans GB"/>
                <a:ea typeface="Hiragino Sans GB"/>
                <a:cs typeface="Hiragino Sans GB"/>
              </a:rPr>
              <a:t>職員の部屋案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0548B-38CA-4CA9-98C1-2093A1AD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6675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9C9C9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9C9C97"/>
                </a:solidFill>
                <a:latin typeface="Helvetica Neue"/>
                <a:ea typeface="Helvetica Neue"/>
                <a:cs typeface="Helvetica Neue"/>
              </a:rPr>
              <a:t>3:00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01E52-561F-4AE8-8C16-7E1BEA3E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6A5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A6A5A0"/>
                </a:solidFill>
                <a:latin typeface="Hiragino Sans GB"/>
                <a:ea typeface="Hiragino Sans GB"/>
                <a:cs typeface="Hiragino Sans GB"/>
              </a:rPr>
              <a:t>通信待ちが8秒を超えたら、代替PDFへ切り替え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7AA92-7A4C-4D33-9CC1-C499489D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7777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77772"/>
                </a:solidFill>
                <a:latin typeface="Helvetica Neue"/>
                <a:ea typeface="Helvetica Neue"/>
                <a:cs typeface="Helvetica Neue"/>
              </a:rPr>
              <a:t>HIR AIZUMI SHIGYO PORTAL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28561B-C198-4D12-90B4-7F15B367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7777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7777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433243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2F68C-567C-4EA0-BE10-3B6BB181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見えないところほど、壊れにくく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5557C-EC58-4969-AE2C-22D5A190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5A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5A36"/>
                </a:solidFill>
                <a:latin typeface="Hiragino Sans GB"/>
                <a:ea typeface="Hiragino Sans GB"/>
                <a:cs typeface="Hiragino Sans GB"/>
              </a:rPr>
              <a:t>権限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46B8C-C79D-4463-AE82-985B8E09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0CF2C-5B45-411E-8152-BFD41989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143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本人の申請だけを表示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職員専用操作はサーバーとDBでも確認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2D218-51AF-4AD8-BFB2-9F899779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97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5A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5A36"/>
                </a:solidFill>
                <a:latin typeface="Hiragino Sans GB"/>
                <a:ea typeface="Hiragino Sans GB"/>
                <a:cs typeface="Hiragino Sans GB"/>
              </a:rPr>
              <a:t>整合性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A1E60-256B-4B17-9CA2-9C014A08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574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6B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E3897-E716-4809-915A-F18621E9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14625"/>
            <a:ext cx="3143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施設15人と部屋別定員をDBで検査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同時操作でも超過を防ぐ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76D50-4CA8-4A20-8EBC-BE85A9CA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5A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5A36"/>
                </a:solidFill>
                <a:latin typeface="Hiragino Sans GB"/>
                <a:ea typeface="Hiragino Sans GB"/>
                <a:cs typeface="Hiragino Sans GB"/>
              </a:rPr>
              <a:t>記録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B2050-1BF5-422F-B488-9B5039AB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6B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61F6E-73C1-49BA-9BAC-FB58A046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14625"/>
            <a:ext cx="3143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審査、納付、入退去を分けて保持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職員操作は監査履歴へ残す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94FAE-3344-4AE2-ACAA-C5290252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RLS、DBトランザクション、更新時の版照合で守る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A7AAA-7870-48AA-9861-F0615C70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8C88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8C887F"/>
                </a:solidFill>
                <a:latin typeface="Helvetica Neue"/>
                <a:ea typeface="Helvetica Neue"/>
                <a:cs typeface="Helvetica Neue"/>
              </a:rPr>
              <a:t>HIR AIZUMI SHIGYO PORTAL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CCE53-E7EB-44BC-90CA-2C37E63C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8C88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8C887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32205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16330-1EDE-464B-98B4-3DA8EBBD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mainには、ここまで入った。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E1CC4-0159-4956-83AB-08D81D21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5A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F5A36"/>
                </a:solidFill>
                <a:latin typeface="Hiragino Sans GB"/>
                <a:ea typeface="Hiragino Sans GB"/>
                <a:cs typeface="Hiragino Sans GB"/>
              </a:rPr>
              <a:t>本番のPDF生成は、まだ有効にしない。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D47B7-534A-4099-872B-0809A207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AA9A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AAA9A4"/>
                </a:solidFill>
                <a:latin typeface="Hiragino Sans GB"/>
                <a:ea typeface="Hiragino Sans GB"/>
                <a:cs typeface="Hiragino Sans GB"/>
              </a:rPr>
              <a:t>mainへ統合済み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3DA85-1687-413A-9949-C3315C8A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A3 部屋案　A9 確認提出　A10 再審査　A11 配置表PDF　A12 総合受入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AFA14-6155-4C40-BCDE-434AF002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AA9A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AAA9A4"/>
                </a:solidFill>
                <a:latin typeface="Hiragino Sans GB"/>
                <a:ea typeface="Hiragino Sans GB"/>
                <a:cs typeface="Hiragino Sans GB"/>
              </a:rPr>
              <a:t>既知の制限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C27E2-ACAC-4352-99B1-00316F40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常設Linux実行先なし　PDF生成active設定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67C6C-AA9C-40AD-9126-5FBDAC09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5A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F5A36"/>
                </a:solidFill>
                <a:latin typeface="Hiragino Sans GB"/>
                <a:ea typeface="Hiragino Sans GB"/>
                <a:cs typeface="Hiragino Sans GB"/>
              </a:rPr>
              <a:t>平泉で始める、その一歩を、手続きで止めない。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22202-E29F-4C86-914E-41FE2F21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C9C9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9C9C97"/>
                </a:solidFill>
                <a:latin typeface="Hiragino Sans GB"/>
                <a:ea typeface="Hiragino Sans GB"/>
                <a:cs typeface="Hiragino Sans GB"/>
              </a:rPr>
              <a:t>自主制作の試作版です。平泉町公式サービスではありません。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9A4A8-20C6-4235-B66B-E92091A0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7777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77772"/>
                </a:solidFill>
                <a:latin typeface="Helvetica Neue"/>
                <a:ea typeface="Helvetica Neue"/>
                <a:cs typeface="Helvetica Neue"/>
              </a:rPr>
              <a:t>HIR AIZUMI SHIGYO PORTAL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98FED-07A5-429C-92ED-34CA10D1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7777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7777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6406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2026-09-12T19:16:15.9920000Z</dcterms:created>
  <dcterms:modified xsi:type="dcterms:W3CDTF">2026-09-12T19:16:15.9920000Z</dcterms:modified>
</coreProperties>
</file>